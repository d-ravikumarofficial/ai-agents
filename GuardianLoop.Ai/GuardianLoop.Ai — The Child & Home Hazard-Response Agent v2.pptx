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Greet the judges confidently and introduce yourself: “Good morning — I am Ravi Kumar D.”
- Give the one-line definition: GuardianLoop.Ai is a child &amp; home hazard-response agent.
- Frame it as an extra layer of protection: balconies, windows, household hazards — from instant alert to verified resolution.
- Set the context: UAE AI Agents Championship project pitch, October 2026.
- Transition: “Let me start with why we chose this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State the two truths in plain words: children are fast and hazards are close; broken things stay broken because nobody tracks the fix.
- Name the two official sources: the ADPHC Safety of Children at Home Guide and the 2017 World Journal of Emergency Surgery study on UAE falls.
- Point to the numbers: 81 reported child falls, 66 fatal, 27% involving furniture near windows or balconies.
- Slow down and land the emotional line: behind every number is a name a family still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the judges through the four mounting zones: balconies &amp; terrace doors, windows, switchboards/wiring, doors &amp; utility areas.
- Quote the evidence hook: furniture near windows was involved in 27% of reported UAE falls.
- Stress the safety-first mounting rule: one fixed camera, high and out of reach — never around a child's neck, never within reach.
- Point to the principles chips: local processing, no facial identification, defined risk zones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Contrast the two paths: Path A is life-safety urgency, Path B is maintenance follow-through.
- Explain why they must be separated: different clocks and different rules — a child near a door cannot wait behind a maintenance queue.
- Use the mini-scenarios: toddler near an open balcony door → alarm in seconds; cracked switch → a tracked case a technician actually completes.
- Stress Path B's verify-before-close: closure only with real evidence, plus polite follow-up on routine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Slow down — let the photo and the room breathe before speaking.
- Read the headline aloud to the judges: “Babies are our world — for their mom and dad.”
- Deliver the paragraph gently: parents give everything, yet cannot watch every second.
- Pause before the sign-off, then close: “This is not surveillance. It is love, engineered.”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the loop in order, 1 → 8 — one short sentence per step, keep it brisk.
- Stress step 4: deterministic guardrails check safety rules and permissions BEFORE any action runs.
- Stress step 6: verify real tool results — a sent message is not a resolved hazard.
- Tie the three highlights together: vision detects, the policy engine decides instantly, tracking closes the case.
- Land the closing line: every technical step exists so that one family never learns the worst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 honest up front: these are prototype test targets, not results from a deployed system.
- Explain the protocol: every metric is evaluated per scenario — precision, recall and false alerts per hour.
- Call out the trust metrics: under 10 seconds to alarm, and 100% of unanswered urgent alerts escalate.
- Highlight fairness testing: low light, occlusion, camera angles and skin tones — checked for every household.
- Point to the footnote: validation includes failure cases, network loss and sensor-offline drills.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Deliver the ~70% headline claim confidently — then immediately ground it.
- Walk the four evidence-backed stats: 27% furniture near windows, 81% of the 81 falls fatal, ~90% resolution pilot target, 100% escalation.
- Explain where the number comes from: the cited UAE evidence base, restated as pilot targets for live validation.
- Close with the caveat: GuardianLoop complements — never replaces — physical safety measures and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Frame guardrails as the differentiator judges can trust: a child-safety agent must itself be safe.
- Walk the six commitments briefly — prevention first, no wearables, deterministic rules, privacy, honesty, professionals only.
- Emphasize: fixed, safely mounted cameras only — nothing around a child's neck or within reach.
- End on the caption: trust is the product behind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Recap the three verbs: detect in seconds, alert instantly, resolve completely.
- Restate the one-liner: a missing layer of protection for UAE homes, followed through to verified resolution.
- Thank the judges and state your name once more — Ravi Kumar D, UAE AI Agents Championship, October 2026.
- Deliver the closing line slowly: "Because babies are our world. Let us keep it that way."
-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214437" y="-1357312"/>
            <a:ext cx="3143250" cy="3143250"/>
          </a:xfrm>
          <a:prstGeom prst="rect">
            <a:avLst/>
          </a:prstGeom>
        </p:spPr>
      </p:pic>
      <p:sp>
        <p:nvSpPr>
          <p:cNvPr id="3" name="Text 0"/>
          <p:cNvSpPr/>
          <p:nvPr/>
        </p:nvSpPr>
        <p:spPr>
          <a:xfrm>
            <a:off x="-1214437" y="-1357312"/>
            <a:ext cx="3143250" cy="3143250"/>
          </a:xfrm>
          <a:prstGeom prst="roundRect">
            <a:avLst>
              <a:gd name="adj" fmla="val 3030000"/>
            </a:avLst>
          </a:prstGeom>
          <a:solidFill>
            <a:srgbClr val="E8B931">
              <a:alpha val="0"/>
            </a:srgbClr>
          </a:solidFill>
          <a:ln/>
        </p:spPr>
        <p:txBody>
          <a:bodyPr wrap="square" rtlCol="0" anchor="ctr"/>
          <a:lstStyle/>
          <a:p>
            <a:pPr indent="0" marL="0">
              <a:buNone/>
            </a:pPr>
            <a:endParaRPr lang="en-US" dirty="0"/>
          </a:p>
        </p:txBody>
      </p:sp>
      <p:pic>
        <p:nvPicPr>
          <p:cNvPr id="4" name="Image 1" descr="preencoded.png">    </p:cNvPr>
          <p:cNvPicPr>
            <a:picLocks noChangeAspect="1"/>
          </p:cNvPicPr>
          <p:nvPr/>
        </p:nvPicPr>
        <p:blipFill>
          <a:blip r:embed="rId2"/>
          <a:stretch>
            <a:fillRect/>
          </a:stretch>
        </p:blipFill>
        <p:spPr>
          <a:xfrm>
            <a:off x="-928687" y="3929063"/>
            <a:ext cx="2286000" cy="2286000"/>
          </a:xfrm>
          <a:prstGeom prst="rect">
            <a:avLst/>
          </a:prstGeom>
        </p:spPr>
      </p:pic>
      <p:sp>
        <p:nvSpPr>
          <p:cNvPr id="5" name="Text 1"/>
          <p:cNvSpPr/>
          <p:nvPr/>
        </p:nvSpPr>
        <p:spPr>
          <a:xfrm>
            <a:off x="-928687" y="3929063"/>
            <a:ext cx="2286000" cy="2286000"/>
          </a:xfrm>
          <a:prstGeom prst="roundRect">
            <a:avLst>
              <a:gd name="adj" fmla="val 4166250"/>
            </a:avLst>
          </a:prstGeom>
          <a:solidFill>
            <a:srgbClr val="1E4D3B">
              <a:alpha val="0"/>
            </a:srgbClr>
          </a:solidFill>
          <a:ln/>
        </p:spPr>
        <p:txBody>
          <a:bodyPr wrap="square" rtlCol="0" anchor="ctr"/>
          <a:lstStyle/>
          <a:p>
            <a:pPr indent="0" marL="0">
              <a:buNone/>
            </a:pPr>
            <a:endParaRPr lang="en-US" dirty="0"/>
          </a:p>
        </p:txBody>
      </p:sp>
      <p:sp>
        <p:nvSpPr>
          <p:cNvPr id="6" name="Text 2"/>
          <p:cNvSpPr/>
          <p:nvPr/>
        </p:nvSpPr>
        <p:spPr>
          <a:xfrm>
            <a:off x="514350" y="428625"/>
            <a:ext cx="2938649" cy="189309"/>
          </a:xfrm>
          <a:prstGeom prst="roundRect">
            <a:avLst>
              <a:gd name="adj" fmla="val 5026425"/>
            </a:avLst>
          </a:prstGeom>
          <a:solidFill>
            <a:srgbClr val="E4EFE6"/>
          </a:solidFill>
          <a:ln/>
        </p:spPr>
        <p:txBody>
          <a:bodyPr wrap="square" rtlCol="0" anchor="ctr"/>
          <a:lstStyle/>
          <a:p>
            <a:pPr indent="0" marL="0">
              <a:buNone/>
            </a:pPr>
            <a:endParaRPr lang="en-US" dirty="0"/>
          </a:p>
        </p:txBody>
      </p:sp>
      <p:sp>
        <p:nvSpPr>
          <p:cNvPr id="7" name="Text 3"/>
          <p:cNvSpPr/>
          <p:nvPr/>
        </p:nvSpPr>
        <p:spPr>
          <a:xfrm>
            <a:off x="757238" y="478631"/>
            <a:ext cx="2595749" cy="119703"/>
          </a:xfrm>
          <a:prstGeom prst="rect">
            <a:avLst/>
          </a:prstGeom>
          <a:noFill/>
          <a:ln/>
        </p:spPr>
        <p:txBody>
          <a:bodyPr wrap="square" lIns="100013" tIns="35719" rIns="100013" bIns="35719" rtlCol="0" anchor="t"/>
          <a:lstStyle/>
          <a:p>
            <a:pPr algn="l" indent="0" marL="0">
              <a:lnSpc>
                <a:spcPts val="928"/>
              </a:lnSpc>
              <a:buNone/>
            </a:pPr>
            <a:r>
              <a:rPr lang="en-US" sz="619" b="1" spc="124" kern="0" dirty="0">
                <a:solidFill>
                  <a:srgbClr val="1E4D3B"/>
                </a:solidFill>
                <a:latin typeface="Carlito" pitchFamily="34" charset="0"/>
                <a:ea typeface="Carlito" pitchFamily="34" charset="-122"/>
                <a:cs typeface="Carlito" pitchFamily="34" charset="-120"/>
              </a:rPr>
              <a:t>UAE AI AGENTS CHAMPIONSHIP · PROJECT PITCH</a:t>
            </a:r>
            <a:endParaRPr lang="en-US" sz="619" dirty="0"/>
          </a:p>
        </p:txBody>
      </p:sp>
      <p:sp>
        <p:nvSpPr>
          <p:cNvPr id="8" name="Text 4"/>
          <p:cNvSpPr/>
          <p:nvPr/>
        </p:nvSpPr>
        <p:spPr>
          <a:xfrm>
            <a:off x="614363" y="473273"/>
            <a:ext cx="100013" cy="100013"/>
          </a:xfrm>
          <a:prstGeom prst="rect">
            <a:avLst/>
          </a:prstGeom>
          <a:noFill/>
          <a:ln/>
        </p:spPr>
        <p:txBody>
          <a:bodyPr wrap="none" lIns="0" tIns="0" rIns="0" bIns="0" rtlCol="0" anchor="ctr"/>
          <a:lstStyle/>
          <a:p>
            <a:pPr algn="ctr" indent="0" marL="0">
              <a:buNone/>
            </a:pPr>
            <a:r>
              <a:rPr lang="en-US" sz="984" dirty="0">
                <a:solidFill>
                  <a:srgbClr val="8F6E12"/>
                </a:solidFill>
                <a:latin typeface="Segoe UI Symbol" pitchFamily="34" charset="0"/>
                <a:ea typeface="Segoe UI Symbol" pitchFamily="34" charset="-122"/>
                <a:cs typeface="Segoe UI Symbol" pitchFamily="34" charset="-120"/>
              </a:rPr>
              <a:t>⛨</a:t>
            </a:r>
            <a:endParaRPr lang="en-US" sz="984" dirty="0"/>
          </a:p>
        </p:txBody>
      </p:sp>
      <p:sp>
        <p:nvSpPr>
          <p:cNvPr id="9" name="Text 5"/>
          <p:cNvSpPr/>
          <p:nvPr/>
        </p:nvSpPr>
        <p:spPr>
          <a:xfrm>
            <a:off x="514350" y="846534"/>
            <a:ext cx="5022581" cy="537536"/>
          </a:xfrm>
          <a:prstGeom prst="rect">
            <a:avLst/>
          </a:prstGeom>
          <a:noFill/>
          <a:ln/>
        </p:spPr>
        <p:txBody>
          <a:bodyPr wrap="none" lIns="0" tIns="0" rIns="0" bIns="0" rtlCol="0" anchor="t"/>
          <a:lstStyle/>
          <a:p>
            <a:pPr algn="l" indent="0" marL="0">
              <a:lnSpc>
                <a:spcPts val="3920"/>
              </a:lnSpc>
              <a:buNone/>
            </a:pPr>
            <a:r>
              <a:rPr lang="en-US" sz="3769" b="1" spc="-84" kern="0" dirty="0">
                <a:solidFill>
                  <a:srgbClr val="1E4D3B"/>
                </a:solidFill>
                <a:latin typeface="Carlito" pitchFamily="34" charset="0"/>
                <a:ea typeface="Carlito" pitchFamily="34" charset="-122"/>
                <a:cs typeface="Carlito" pitchFamily="34" charset="-120"/>
              </a:rPr>
              <a:t>GuardianLoop</a:t>
            </a:r>
            <a:pPr algn="l" indent="0" marL="0">
              <a:lnSpc>
                <a:spcPts val="3920"/>
              </a:lnSpc>
              <a:buNone/>
            </a:pPr>
            <a:r>
              <a:rPr lang="en-US" sz="3769" b="1" spc="-84" kern="0" dirty="0">
                <a:solidFill>
                  <a:srgbClr val="8F6E12"/>
                </a:solidFill>
                <a:latin typeface="Carlito" pitchFamily="34" charset="0"/>
                <a:ea typeface="Carlito" pitchFamily="34" charset="-122"/>
                <a:cs typeface="Carlito" pitchFamily="34" charset="-120"/>
              </a:rPr>
              <a:t>.Ai</a:t>
            </a:r>
            <a:endParaRPr lang="en-US" sz="3769" dirty="0"/>
          </a:p>
        </p:txBody>
      </p:sp>
      <p:sp>
        <p:nvSpPr>
          <p:cNvPr id="10" name="Text 6"/>
          <p:cNvSpPr/>
          <p:nvPr/>
        </p:nvSpPr>
        <p:spPr>
          <a:xfrm>
            <a:off x="514350" y="1501415"/>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11" name="Text 7"/>
          <p:cNvSpPr/>
          <p:nvPr/>
        </p:nvSpPr>
        <p:spPr>
          <a:xfrm>
            <a:off x="514350" y="1680009"/>
            <a:ext cx="4286250" cy="399746"/>
          </a:xfrm>
          <a:prstGeom prst="rect">
            <a:avLst/>
          </a:prstGeom>
          <a:noFill/>
          <a:ln/>
        </p:spPr>
        <p:txBody>
          <a:bodyPr wrap="square" lIns="0" tIns="0" rIns="0" bIns="0" rtlCol="0" anchor="t"/>
          <a:lstStyle/>
          <a:p>
            <a:pPr algn="l" indent="0" marL="0">
              <a:lnSpc>
                <a:spcPts val="1458"/>
              </a:lnSpc>
              <a:buNone/>
            </a:pPr>
            <a:r>
              <a:rPr lang="en-US" sz="900" dirty="0">
                <a:solidFill>
                  <a:srgbClr val="33463C"/>
                </a:solidFill>
                <a:latin typeface="Carlito" pitchFamily="34" charset="0"/>
                <a:ea typeface="Carlito" pitchFamily="34" charset="-122"/>
                <a:cs typeface="Carlito" pitchFamily="34" charset="-120"/>
              </a:rPr>
              <a:t>The Child &amp; Home Hazard-Response Agent — an extra layer of protection for balconies, windows and household hazards, from instant alert to verified resolution.</a:t>
            </a:r>
            <a:endParaRPr lang="en-US" sz="900" dirty="0"/>
          </a:p>
        </p:txBody>
      </p:sp>
      <p:sp>
        <p:nvSpPr>
          <p:cNvPr id="12" name="Text 8"/>
          <p:cNvSpPr/>
          <p:nvPr/>
        </p:nvSpPr>
        <p:spPr>
          <a:xfrm>
            <a:off x="514350" y="2194984"/>
            <a:ext cx="1062856" cy="230029"/>
          </a:xfrm>
          <a:prstGeom prst="roundRect">
            <a:avLst>
              <a:gd name="adj" fmla="val 4136641"/>
            </a:avLst>
          </a:prstGeom>
          <a:solidFill>
            <a:srgbClr val="E4EFE6"/>
          </a:solidFill>
          <a:ln/>
        </p:spPr>
        <p:txBody>
          <a:bodyPr wrap="square" rtlCol="0" anchor="ctr"/>
          <a:lstStyle/>
          <a:p>
            <a:pPr indent="0" marL="0">
              <a:buNone/>
            </a:pPr>
            <a:endParaRPr lang="en-US" dirty="0"/>
          </a:p>
        </p:txBody>
      </p:sp>
      <p:sp>
        <p:nvSpPr>
          <p:cNvPr id="13" name="Text 9"/>
          <p:cNvSpPr/>
          <p:nvPr/>
        </p:nvSpPr>
        <p:spPr>
          <a:xfrm>
            <a:off x="764381" y="2257313"/>
            <a:ext cx="848544" cy="122895"/>
          </a:xfrm>
          <a:prstGeom prst="rect">
            <a:avLst/>
          </a:prstGeom>
          <a:noFill/>
          <a:ln/>
        </p:spPr>
        <p:txBody>
          <a:bodyPr wrap="none" lIns="0" tIns="0" rIns="0" bIns="0" rtlCol="0" anchor="t"/>
          <a:lstStyle/>
          <a:p>
            <a:pPr algn="l" indent="0" marL="0">
              <a:lnSpc>
                <a:spcPts val="1055"/>
              </a:lnSpc>
              <a:buNone/>
            </a:pPr>
            <a:r>
              <a:rPr lang="en-US" sz="703" dirty="0">
                <a:solidFill>
                  <a:srgbClr val="1E4D3B"/>
                </a:solidFill>
                <a:latin typeface="Carlito" pitchFamily="34" charset="0"/>
                <a:ea typeface="Carlito" pitchFamily="34" charset="-122"/>
                <a:cs typeface="Carlito" pitchFamily="34" charset="-120"/>
              </a:rPr>
              <a:t>Computer Vision</a:t>
            </a:r>
            <a:endParaRPr lang="en-US" sz="703" dirty="0"/>
          </a:p>
        </p:txBody>
      </p:sp>
      <p:sp>
        <p:nvSpPr>
          <p:cNvPr id="14" name="Text 10"/>
          <p:cNvSpPr/>
          <p:nvPr/>
        </p:nvSpPr>
        <p:spPr>
          <a:xfrm>
            <a:off x="614363" y="2256420"/>
            <a:ext cx="107156" cy="107156"/>
          </a:xfrm>
          <a:prstGeom prst="rect">
            <a:avLst/>
          </a:prstGeom>
          <a:noFill/>
          <a:ln/>
        </p:spPr>
        <p:txBody>
          <a:bodyPr wrap="none" lIns="0" tIns="0" rIns="0" bIns="0" rtlCol="0" anchor="ctr"/>
          <a:lstStyle/>
          <a:p>
            <a:pPr algn="ctr" indent="0" marL="0">
              <a:buNone/>
            </a:pPr>
            <a:r>
              <a:rPr lang="en-US" sz="1055" dirty="0">
                <a:solidFill>
                  <a:srgbClr val="2E6650"/>
                </a:solidFill>
                <a:latin typeface="Segoe UI Symbol" pitchFamily="34" charset="0"/>
                <a:ea typeface="Segoe UI Symbol" pitchFamily="34" charset="-122"/>
                <a:cs typeface="Segoe UI Symbol" pitchFamily="34" charset="-120"/>
              </a:rPr>
              <a:t>◉</a:t>
            </a:r>
            <a:endParaRPr lang="en-US" sz="1055" dirty="0"/>
          </a:p>
        </p:txBody>
      </p:sp>
      <p:sp>
        <p:nvSpPr>
          <p:cNvPr id="15" name="Text 11"/>
          <p:cNvSpPr/>
          <p:nvPr/>
        </p:nvSpPr>
        <p:spPr>
          <a:xfrm>
            <a:off x="1648644" y="2194984"/>
            <a:ext cx="917414" cy="230029"/>
          </a:xfrm>
          <a:prstGeom prst="roundRect">
            <a:avLst>
              <a:gd name="adj" fmla="val 4136641"/>
            </a:avLst>
          </a:prstGeom>
          <a:solidFill>
            <a:srgbClr val="E4EFE6"/>
          </a:solidFill>
          <a:ln/>
        </p:spPr>
        <p:txBody>
          <a:bodyPr wrap="square" rtlCol="0" anchor="ctr"/>
          <a:lstStyle/>
          <a:p>
            <a:pPr indent="0" marL="0">
              <a:buNone/>
            </a:pPr>
            <a:endParaRPr lang="en-US" dirty="0"/>
          </a:p>
        </p:txBody>
      </p:sp>
      <p:sp>
        <p:nvSpPr>
          <p:cNvPr id="16" name="Text 12"/>
          <p:cNvSpPr/>
          <p:nvPr/>
        </p:nvSpPr>
        <p:spPr>
          <a:xfrm>
            <a:off x="1898675" y="2257313"/>
            <a:ext cx="703101" cy="122895"/>
          </a:xfrm>
          <a:prstGeom prst="rect">
            <a:avLst/>
          </a:prstGeom>
          <a:noFill/>
          <a:ln/>
        </p:spPr>
        <p:txBody>
          <a:bodyPr wrap="none" lIns="0" tIns="0" rIns="0" bIns="0" rtlCol="0" anchor="t"/>
          <a:lstStyle/>
          <a:p>
            <a:pPr algn="l" indent="0" marL="0">
              <a:lnSpc>
                <a:spcPts val="1055"/>
              </a:lnSpc>
              <a:buNone/>
            </a:pPr>
            <a:r>
              <a:rPr lang="en-US" sz="703" dirty="0">
                <a:solidFill>
                  <a:srgbClr val="1E4D3B"/>
                </a:solidFill>
                <a:latin typeface="Carlito" pitchFamily="34" charset="0"/>
                <a:ea typeface="Carlito" pitchFamily="34" charset="-122"/>
                <a:cs typeface="Carlito" pitchFamily="34" charset="-120"/>
              </a:rPr>
              <a:t>Instant Alerts</a:t>
            </a:r>
            <a:endParaRPr lang="en-US" sz="703" dirty="0"/>
          </a:p>
        </p:txBody>
      </p:sp>
      <p:sp>
        <p:nvSpPr>
          <p:cNvPr id="17" name="Text 13"/>
          <p:cNvSpPr/>
          <p:nvPr/>
        </p:nvSpPr>
        <p:spPr>
          <a:xfrm>
            <a:off x="1748656" y="2256420"/>
            <a:ext cx="107156" cy="107156"/>
          </a:xfrm>
          <a:prstGeom prst="rect">
            <a:avLst/>
          </a:prstGeom>
          <a:noFill/>
          <a:ln/>
        </p:spPr>
        <p:txBody>
          <a:bodyPr wrap="none" lIns="0" tIns="0" rIns="0" bIns="0" rtlCol="0" anchor="ctr"/>
          <a:lstStyle/>
          <a:p>
            <a:pPr algn="ctr" indent="0" marL="0">
              <a:buNone/>
            </a:pPr>
            <a:r>
              <a:rPr lang="en-US" sz="1055" dirty="0">
                <a:solidFill>
                  <a:srgbClr val="2E6650"/>
                </a:solidFill>
                <a:latin typeface="Segoe UI Symbol" pitchFamily="34" charset="0"/>
                <a:ea typeface="Segoe UI Symbol" pitchFamily="34" charset="-122"/>
                <a:cs typeface="Segoe UI Symbol" pitchFamily="34" charset="-120"/>
              </a:rPr>
              <a:t>◔</a:t>
            </a:r>
            <a:endParaRPr lang="en-US" sz="1055" dirty="0"/>
          </a:p>
        </p:txBody>
      </p:sp>
      <p:sp>
        <p:nvSpPr>
          <p:cNvPr id="18" name="Text 14"/>
          <p:cNvSpPr/>
          <p:nvPr/>
        </p:nvSpPr>
        <p:spPr>
          <a:xfrm>
            <a:off x="2637495" y="2194984"/>
            <a:ext cx="1203499" cy="230029"/>
          </a:xfrm>
          <a:prstGeom prst="roundRect">
            <a:avLst>
              <a:gd name="adj" fmla="val 4136641"/>
            </a:avLst>
          </a:prstGeom>
          <a:solidFill>
            <a:srgbClr val="E4EFE6"/>
          </a:solidFill>
          <a:ln/>
        </p:spPr>
        <p:txBody>
          <a:bodyPr wrap="square" rtlCol="0" anchor="ctr"/>
          <a:lstStyle/>
          <a:p>
            <a:pPr indent="0" marL="0">
              <a:buNone/>
            </a:pPr>
            <a:endParaRPr lang="en-US" dirty="0"/>
          </a:p>
        </p:txBody>
      </p:sp>
      <p:sp>
        <p:nvSpPr>
          <p:cNvPr id="19" name="Text 15"/>
          <p:cNvSpPr/>
          <p:nvPr/>
        </p:nvSpPr>
        <p:spPr>
          <a:xfrm>
            <a:off x="2887526" y="2257313"/>
            <a:ext cx="2410234" cy="122895"/>
          </a:xfrm>
          <a:prstGeom prst="rect">
            <a:avLst/>
          </a:prstGeom>
          <a:noFill/>
          <a:ln/>
        </p:spPr>
        <p:txBody>
          <a:bodyPr wrap="none" lIns="0" tIns="0" rIns="0" bIns="0" rtlCol="0" anchor="t"/>
          <a:lstStyle/>
          <a:p>
            <a:pPr algn="l" indent="0" marL="0">
              <a:lnSpc>
                <a:spcPts val="1055"/>
              </a:lnSpc>
              <a:buNone/>
            </a:pPr>
            <a:r>
              <a:rPr lang="en-US" sz="800" dirty="0">
                <a:solidFill>
                  <a:srgbClr val="1E4D3B"/>
                </a:solidFill>
                <a:latin typeface="Carlito" pitchFamily="34" charset="0"/>
                <a:ea typeface="Carlito" pitchFamily="34" charset="-122"/>
                <a:cs typeface="Carlito" pitchFamily="34" charset="-120"/>
              </a:rPr>
              <a:t>Resolution Tracking</a:t>
            </a:r>
            <a:endParaRPr lang="en-US" sz="800" dirty="0"/>
          </a:p>
        </p:txBody>
      </p:sp>
      <p:sp>
        <p:nvSpPr>
          <p:cNvPr id="20" name="Text 16"/>
          <p:cNvSpPr/>
          <p:nvPr/>
        </p:nvSpPr>
        <p:spPr>
          <a:xfrm>
            <a:off x="2737507" y="2256420"/>
            <a:ext cx="107156" cy="107156"/>
          </a:xfrm>
          <a:prstGeom prst="rect">
            <a:avLst/>
          </a:prstGeom>
          <a:noFill/>
          <a:ln/>
        </p:spPr>
        <p:txBody>
          <a:bodyPr wrap="none" lIns="0" tIns="0" rIns="0" bIns="0" rtlCol="0" anchor="ctr"/>
          <a:lstStyle/>
          <a:p>
            <a:pPr algn="ctr" indent="0" marL="0">
              <a:buNone/>
            </a:pPr>
            <a:r>
              <a:rPr lang="en-US" sz="1055" dirty="0">
                <a:solidFill>
                  <a:srgbClr val="2E6650"/>
                </a:solidFill>
                <a:latin typeface="Segoe UI Symbol" pitchFamily="34" charset="0"/>
                <a:ea typeface="Segoe UI Symbol" pitchFamily="34" charset="-122"/>
                <a:cs typeface="Segoe UI Symbol" pitchFamily="34" charset="-120"/>
              </a:rPr>
              <a:t>✓</a:t>
            </a:r>
            <a:endParaRPr lang="en-US" sz="1055" dirty="0"/>
          </a:p>
        </p:txBody>
      </p:sp>
      <p:sp>
        <p:nvSpPr>
          <p:cNvPr id="21" name="Text 17"/>
          <p:cNvSpPr/>
          <p:nvPr/>
        </p:nvSpPr>
        <p:spPr>
          <a:xfrm>
            <a:off x="514350" y="2569852"/>
            <a:ext cx="4783410" cy="179380"/>
          </a:xfrm>
          <a:prstGeom prst="rect">
            <a:avLst/>
          </a:prstGeom>
          <a:noFill/>
          <a:ln/>
        </p:spPr>
        <p:txBody>
          <a:bodyPr wrap="square" lIns="0" tIns="0" rIns="0" bIns="0" rtlCol="0" anchor="t"/>
          <a:lstStyle/>
          <a:p>
            <a:pPr algn="l" indent="0" marL="0">
              <a:lnSpc>
                <a:spcPts val="1308"/>
              </a:lnSpc>
              <a:buNone/>
            </a:pPr>
            <a:r>
              <a:rPr lang="en-US" sz="872" i="1" dirty="0">
                <a:solidFill>
                  <a:srgbClr val="2E6650"/>
                </a:solidFill>
                <a:latin typeface="Carlito" pitchFamily="34" charset="0"/>
                <a:ea typeface="Carlito" pitchFamily="34" charset="-122"/>
                <a:cs typeface="Carlito" pitchFamily="34" charset="-120"/>
              </a:rPr>
              <a:t>Because every child deserves one more guardian watching.</a:t>
            </a:r>
            <a:endParaRPr lang="en-US" sz="872" dirty="0"/>
          </a:p>
        </p:txBody>
      </p:sp>
      <p:sp>
        <p:nvSpPr>
          <p:cNvPr id="22" name="Shape 18"/>
          <p:cNvSpPr/>
          <p:nvPr/>
        </p:nvSpPr>
        <p:spPr>
          <a:xfrm>
            <a:off x="514350" y="4241602"/>
            <a:ext cx="4783410" cy="0"/>
          </a:xfrm>
          <a:prstGeom prst="line">
            <a:avLst/>
          </a:prstGeom>
          <a:noFill/>
          <a:ln w="7144">
            <a:solidFill>
              <a:srgbClr val="E7E0D2"/>
            </a:solidFill>
            <a:prstDash val="solid"/>
          </a:ln>
        </p:spPr>
      </p:sp>
      <p:sp>
        <p:nvSpPr>
          <p:cNvPr id="23" name="Text 19"/>
          <p:cNvSpPr/>
          <p:nvPr/>
        </p:nvSpPr>
        <p:spPr>
          <a:xfrm>
            <a:off x="514350" y="4373761"/>
            <a:ext cx="1539107" cy="127945"/>
          </a:xfrm>
          <a:prstGeom prst="rect">
            <a:avLst/>
          </a:prstGeom>
          <a:noFill/>
          <a:ln/>
        </p:spPr>
        <p:txBody>
          <a:bodyPr wrap="none" lIns="0" tIns="0" rIns="0" bIns="0" rtlCol="0" anchor="t">
            <a:normAutofit/>
          </a:bodyPr>
          <a:lstStyle/>
          <a:p>
            <a:pPr algn="l" indent="0" marL="0">
              <a:lnSpc>
                <a:spcPts val="886"/>
              </a:lnSpc>
              <a:buNone/>
            </a:pPr>
            <a:r>
              <a:rPr lang="en-US" sz="800" b="1" spc="157" kern="0" dirty="0">
                <a:solidFill>
                  <a:srgbClr val="6B7A6F"/>
                </a:solidFill>
                <a:latin typeface="Carlito" pitchFamily="34" charset="0"/>
                <a:ea typeface="Carlito" pitchFamily="34" charset="-122"/>
                <a:cs typeface="Carlito" pitchFamily="34" charset="-120"/>
              </a:rPr>
              <a:t>PRESENTED BY</a:t>
            </a:r>
            <a:endParaRPr lang="en-US" sz="800" dirty="0"/>
          </a:p>
        </p:txBody>
      </p:sp>
      <p:sp>
        <p:nvSpPr>
          <p:cNvPr id="24" name="Text 20"/>
          <p:cNvSpPr/>
          <p:nvPr/>
        </p:nvSpPr>
        <p:spPr>
          <a:xfrm>
            <a:off x="514350" y="4529138"/>
            <a:ext cx="1317749" cy="257175"/>
          </a:xfrm>
          <a:prstGeom prst="rect">
            <a:avLst/>
          </a:prstGeom>
          <a:noFill/>
          <a:ln/>
        </p:spPr>
        <p:txBody>
          <a:bodyPr wrap="none" lIns="0" tIns="0" rIns="0" bIns="0" rtlCol="0" anchor="t"/>
          <a:lstStyle/>
          <a:p>
            <a:pPr algn="l" indent="0" marL="0">
              <a:lnSpc>
                <a:spcPts val="2025"/>
              </a:lnSpc>
              <a:buNone/>
            </a:pPr>
            <a:r>
              <a:rPr lang="en-US" sz="1350" b="1" dirty="0">
                <a:solidFill>
                  <a:srgbClr val="1E4D3B"/>
                </a:solidFill>
                <a:latin typeface="Carlito" pitchFamily="34" charset="0"/>
                <a:ea typeface="Carlito" pitchFamily="34" charset="-122"/>
                <a:cs typeface="Carlito" pitchFamily="34" charset="-120"/>
              </a:rPr>
              <a:t>Ravi Kumar D</a:t>
            </a:r>
            <a:endParaRPr lang="en-US" sz="1350" dirty="0"/>
          </a:p>
        </p:txBody>
      </p:sp>
      <p:sp>
        <p:nvSpPr>
          <p:cNvPr id="25" name="Text 21"/>
          <p:cNvSpPr/>
          <p:nvPr/>
        </p:nvSpPr>
        <p:spPr>
          <a:xfrm>
            <a:off x="4492526" y="4632722"/>
            <a:ext cx="114300" cy="114300"/>
          </a:xfrm>
          <a:prstGeom prst="rect">
            <a:avLst/>
          </a:prstGeom>
          <a:noFill/>
          <a:ln/>
        </p:spPr>
        <p:txBody>
          <a:bodyPr wrap="none" lIns="0" tIns="0" rIns="0" bIns="0" rtlCol="0" anchor="ctr"/>
          <a:lstStyle/>
          <a:p>
            <a:pPr algn="ctr" indent="0" marL="0">
              <a:buNone/>
            </a:pPr>
            <a:r>
              <a:rPr lang="en-US" sz="1125" dirty="0">
                <a:solidFill>
                  <a:srgbClr val="8F6E12"/>
                </a:solidFill>
                <a:latin typeface="Segoe UI Symbol" pitchFamily="34" charset="0"/>
                <a:ea typeface="Segoe UI Symbol" pitchFamily="34" charset="-122"/>
                <a:cs typeface="Segoe UI Symbol" pitchFamily="34" charset="-120"/>
              </a:rPr>
              <a:t>▦</a:t>
            </a:r>
            <a:endParaRPr lang="en-US" sz="1125" dirty="0"/>
          </a:p>
        </p:txBody>
      </p:sp>
      <p:sp>
        <p:nvSpPr>
          <p:cNvPr id="26" name="Text 22"/>
          <p:cNvSpPr/>
          <p:nvPr/>
        </p:nvSpPr>
        <p:spPr>
          <a:xfrm>
            <a:off x="4579818" y="4614863"/>
            <a:ext cx="802100" cy="164592"/>
          </a:xfrm>
          <a:prstGeom prst="rect">
            <a:avLst/>
          </a:prstGeom>
          <a:noFill/>
          <a:ln/>
        </p:spPr>
        <p:txBody>
          <a:bodyPr wrap="none" lIns="0" tIns="0" rIns="0" bIns="0" rtlCol="0" anchor="t"/>
          <a:lstStyle/>
          <a:p>
            <a:pPr algn="l" indent="0" marL="0">
              <a:lnSpc>
                <a:spcPts val="1181"/>
              </a:lnSpc>
              <a:buNone/>
            </a:pPr>
            <a:r>
              <a:rPr lang="en-US" sz="788" dirty="0">
                <a:solidFill>
                  <a:srgbClr val="33463C"/>
                </a:solidFill>
                <a:latin typeface="Liberation Sans Narrow" pitchFamily="34" charset="0"/>
                <a:ea typeface="Liberation Sans Narrow" pitchFamily="34" charset="-122"/>
                <a:cs typeface="Liberation Sans Narrow" pitchFamily="34" charset="-120"/>
              </a:rPr>
              <a:t>October 2026</a:t>
            </a:r>
            <a:endParaRPr lang="en-US" sz="788" dirty="0"/>
          </a:p>
        </p:txBody>
      </p:sp>
      <p:pic>
        <p:nvPicPr>
          <p:cNvPr id="27" name="Image 2" descr="/tmp/h2p-fit-1792648421979-b4xrri.png">    </p:cNvPr>
          <p:cNvPicPr>
            <a:picLocks noChangeAspect="1"/>
          </p:cNvPicPr>
          <p:nvPr/>
        </p:nvPicPr>
        <p:blipFill>
          <a:blip r:embed="rId3"/>
          <a:stretch>
            <a:fillRect/>
          </a:stretch>
        </p:blipFill>
        <p:spPr>
          <a:xfrm>
            <a:off x="5669235" y="0"/>
            <a:ext cx="3474653" cy="5143500"/>
          </a:xfrm>
          <a:prstGeom prst="rect">
            <a:avLst/>
          </a:prstGeom>
        </p:spPr>
      </p:pic>
      <p:pic>
        <p:nvPicPr>
          <p:cNvPr id="28" name="Image 3" descr="preencoded.png">    </p:cNvPr>
          <p:cNvPicPr>
            <a:picLocks noChangeAspect="1"/>
          </p:cNvPicPr>
          <p:nvPr/>
        </p:nvPicPr>
        <p:blipFill>
          <a:blip r:embed="rId4"/>
          <a:stretch>
            <a:fillRect/>
          </a:stretch>
        </p:blipFill>
        <p:spPr>
          <a:xfrm>
            <a:off x="5669235" y="0"/>
            <a:ext cx="500063" cy="5143500"/>
          </a:xfrm>
          <a:prstGeom prst="rect">
            <a:avLst/>
          </a:prstGeom>
        </p:spPr>
      </p:pic>
      <p:sp>
        <p:nvSpPr>
          <p:cNvPr id="29" name="Text 23"/>
          <p:cNvSpPr/>
          <p:nvPr/>
        </p:nvSpPr>
        <p:spPr>
          <a:xfrm>
            <a:off x="5869260" y="4482703"/>
            <a:ext cx="3074603" cy="460772"/>
          </a:xfrm>
          <a:prstGeom prst="roundRect">
            <a:avLst>
              <a:gd name="adj" fmla="val 24806"/>
            </a:avLst>
          </a:prstGeom>
          <a:solidFill>
            <a:srgbClr val="143528">
              <a:alpha val="80000"/>
            </a:srgbClr>
          </a:solidFill>
          <a:ln/>
        </p:spPr>
        <p:txBody>
          <a:bodyPr wrap="square" rtlCol="0" anchor="ctr"/>
          <a:lstStyle/>
          <a:p>
            <a:pPr indent="0" marL="0">
              <a:buNone/>
            </a:pPr>
            <a:endParaRPr lang="en-US" dirty="0"/>
          </a:p>
        </p:txBody>
      </p:sp>
      <p:sp>
        <p:nvSpPr>
          <p:cNvPr id="30" name="Text 24"/>
          <p:cNvSpPr/>
          <p:nvPr/>
        </p:nvSpPr>
        <p:spPr>
          <a:xfrm>
            <a:off x="5990704" y="4575572"/>
            <a:ext cx="2831716" cy="108299"/>
          </a:xfrm>
          <a:prstGeom prst="rect">
            <a:avLst/>
          </a:prstGeom>
          <a:noFill/>
          <a:ln/>
        </p:spPr>
        <p:txBody>
          <a:bodyPr wrap="none" lIns="0" tIns="0" rIns="0" bIns="0" rtlCol="0" anchor="t">
            <a:normAutofit/>
          </a:bodyPr>
          <a:lstStyle/>
          <a:p>
            <a:pPr algn="l" indent="0" marL="0">
              <a:lnSpc>
                <a:spcPts val="844"/>
              </a:lnSpc>
              <a:buNone/>
            </a:pPr>
            <a:r>
              <a:rPr lang="en-US" sz="800" b="1" spc="124" kern="0" dirty="0">
                <a:solidFill>
                  <a:srgbClr val="E8B931"/>
                </a:solidFill>
                <a:latin typeface="Carlito" pitchFamily="34" charset="0"/>
                <a:ea typeface="Carlito" pitchFamily="34" charset="-122"/>
                <a:cs typeface="Carlito" pitchFamily="34" charset="-120"/>
              </a:rPr>
              <a:t>WATCHED ZONES</a:t>
            </a:r>
            <a:endParaRPr lang="en-US" sz="800" dirty="0"/>
          </a:p>
        </p:txBody>
      </p:sp>
      <p:sp>
        <p:nvSpPr>
          <p:cNvPr id="31" name="Text 25"/>
          <p:cNvSpPr/>
          <p:nvPr/>
        </p:nvSpPr>
        <p:spPr>
          <a:xfrm>
            <a:off x="5990704" y="4711303"/>
            <a:ext cx="2941444" cy="139303"/>
          </a:xfrm>
          <a:prstGeom prst="rect">
            <a:avLst/>
          </a:prstGeom>
          <a:noFill/>
          <a:ln/>
        </p:spPr>
        <p:txBody>
          <a:bodyPr wrap="square" lIns="0" tIns="0" rIns="0" bIns="0" rtlCol="0" anchor="t"/>
          <a:lstStyle/>
          <a:p>
            <a:pPr algn="l" indent="0" marL="0">
              <a:lnSpc>
                <a:spcPts val="1097"/>
              </a:lnSpc>
              <a:buNone/>
            </a:pPr>
            <a:r>
              <a:rPr lang="en-US" sz="800" dirty="0">
                <a:solidFill>
                  <a:srgbClr val="FBF9F4"/>
                </a:solidFill>
                <a:latin typeface="Carlito" pitchFamily="34" charset="0"/>
                <a:ea typeface="Carlito" pitchFamily="34" charset="-122"/>
                <a:cs typeface="Carlito" pitchFamily="34" charset="-120"/>
              </a:rPr>
              <a:t>Balconies · Windows · Wiring &amp; doors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00050" y="314325"/>
            <a:ext cx="8636000" cy="328260"/>
          </a:xfrm>
          <a:prstGeom prst="rect">
            <a:avLst/>
          </a:prstGeom>
          <a:noFill/>
          <a:ln/>
        </p:spPr>
        <p:txBody>
          <a:bodyPr wrap="none" lIns="0" tIns="0" rIns="0" bIns="0" rtlCol="0" anchor="t"/>
          <a:lstStyle/>
          <a:p>
            <a:pPr algn="l" indent="0" marL="0">
              <a:lnSpc>
                <a:spcPts val="2393"/>
              </a:lnSpc>
              <a:buNone/>
            </a:pPr>
            <a:r>
              <a:rPr lang="en-US" sz="2081" b="1" dirty="0">
                <a:solidFill>
                  <a:srgbClr val="1E4D3B"/>
                </a:solidFill>
                <a:latin typeface="Carlito" pitchFamily="34" charset="0"/>
                <a:ea typeface="Carlito" pitchFamily="34" charset="-122"/>
                <a:cs typeface="Carlito" pitchFamily="34" charset="-120"/>
              </a:rPr>
              <a:t>Why We Chose This Idea</a:t>
            </a:r>
            <a:endParaRPr lang="en-US" sz="2081" dirty="0"/>
          </a:p>
        </p:txBody>
      </p:sp>
      <p:sp>
        <p:nvSpPr>
          <p:cNvPr id="3" name="Text 1"/>
          <p:cNvSpPr/>
          <p:nvPr/>
        </p:nvSpPr>
        <p:spPr>
          <a:xfrm>
            <a:off x="400050" y="689707"/>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4" name="Text 2"/>
          <p:cNvSpPr/>
          <p:nvPr/>
        </p:nvSpPr>
        <p:spPr>
          <a:xfrm>
            <a:off x="400050" y="804007"/>
            <a:ext cx="8343900" cy="173593"/>
          </a:xfrm>
          <a:prstGeom prst="rect">
            <a:avLst/>
          </a:prstGeom>
          <a:noFill/>
          <a:ln/>
        </p:spPr>
        <p:txBody>
          <a:bodyPr wrap="square" lIns="0" tIns="0" rIns="0" bIns="0" rtlCol="0" anchor="t"/>
          <a:lstStyle/>
          <a:p>
            <a:pPr algn="l" indent="0" marL="0">
              <a:lnSpc>
                <a:spcPts val="1266"/>
              </a:lnSpc>
              <a:buNone/>
            </a:pPr>
            <a:r>
              <a:rPr lang="en-US" sz="844" dirty="0">
                <a:solidFill>
                  <a:srgbClr val="33463C"/>
                </a:solidFill>
                <a:latin typeface="Carlito" pitchFamily="34" charset="0"/>
                <a:ea typeface="Carlito" pitchFamily="34" charset="-122"/>
                <a:cs typeface="Carlito" pitchFamily="34" charset="-120"/>
              </a:rPr>
              <a:t>Two simple truths about family life guided this project.</a:t>
            </a:r>
            <a:endParaRPr lang="en-US" sz="844" dirty="0"/>
          </a:p>
        </p:txBody>
      </p:sp>
      <p:sp>
        <p:nvSpPr>
          <p:cNvPr id="5" name="Text 3"/>
          <p:cNvSpPr/>
          <p:nvPr/>
        </p:nvSpPr>
        <p:spPr>
          <a:xfrm>
            <a:off x="403622" y="1082613"/>
            <a:ext cx="2821781" cy="2390366"/>
          </a:xfrm>
          <a:prstGeom prst="roundRect">
            <a:avLst>
              <a:gd name="adj" fmla="val 5579"/>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6" name="Text 4"/>
          <p:cNvSpPr/>
          <p:nvPr/>
        </p:nvSpPr>
        <p:spPr>
          <a:xfrm>
            <a:off x="550069" y="1229060"/>
            <a:ext cx="314325" cy="314325"/>
          </a:xfrm>
          <a:prstGeom prst="roundRect">
            <a:avLst>
              <a:gd name="adj" fmla="val 30300000"/>
            </a:avLst>
          </a:prstGeom>
          <a:solidFill>
            <a:srgbClr val="E4EFE6"/>
          </a:solidFill>
          <a:ln/>
        </p:spPr>
        <p:txBody>
          <a:bodyPr wrap="square" rtlCol="0" anchor="ctr"/>
          <a:lstStyle/>
          <a:p>
            <a:pPr indent="0" marL="0">
              <a:buNone/>
            </a:pPr>
            <a:endParaRPr lang="en-US" dirty="0"/>
          </a:p>
        </p:txBody>
      </p:sp>
      <p:sp>
        <p:nvSpPr>
          <p:cNvPr id="7" name="Text 5"/>
          <p:cNvSpPr/>
          <p:nvPr/>
        </p:nvSpPr>
        <p:spPr>
          <a:xfrm>
            <a:off x="588109" y="1267100"/>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8" name="Text 6"/>
          <p:cNvSpPr/>
          <p:nvPr/>
        </p:nvSpPr>
        <p:spPr>
          <a:xfrm>
            <a:off x="550069" y="1629110"/>
            <a:ext cx="2638616" cy="159127"/>
          </a:xfrm>
          <a:prstGeom prst="rect">
            <a:avLst/>
          </a:prstGeom>
          <a:noFill/>
          <a:ln/>
        </p:spPr>
        <p:txBody>
          <a:bodyPr wrap="square" lIns="0" tIns="0" rIns="0" bIns="0" rtlCol="0" anchor="t"/>
          <a:lstStyle/>
          <a:p>
            <a:pPr algn="l" indent="0" marL="0">
              <a:lnSpc>
                <a:spcPts val="1160"/>
              </a:lnSpc>
              <a:buNone/>
            </a:pPr>
            <a:r>
              <a:rPr lang="en-US" sz="928" b="1" dirty="0">
                <a:solidFill>
                  <a:srgbClr val="1E4D3B"/>
                </a:solidFill>
                <a:latin typeface="Carlito" pitchFamily="34" charset="0"/>
                <a:ea typeface="Carlito" pitchFamily="34" charset="-122"/>
                <a:cs typeface="Carlito" pitchFamily="34" charset="-120"/>
              </a:rPr>
              <a:t>Children are fast. Hazards are close.</a:t>
            </a:r>
            <a:endParaRPr lang="en-US" sz="928" dirty="0"/>
          </a:p>
        </p:txBody>
      </p:sp>
      <p:sp>
        <p:nvSpPr>
          <p:cNvPr id="9" name="Text 7"/>
          <p:cNvSpPr/>
          <p:nvPr/>
        </p:nvSpPr>
        <p:spPr>
          <a:xfrm>
            <a:off x="550069" y="1833600"/>
            <a:ext cx="2528888" cy="693186"/>
          </a:xfrm>
          <a:prstGeom prst="rect">
            <a:avLst/>
          </a:prstGeom>
          <a:noFill/>
          <a:ln/>
        </p:spPr>
        <p:txBody>
          <a:bodyPr wrap="square" lIns="0" tIns="0" rIns="0" bIns="0" rtlCol="0" anchor="t"/>
          <a:lstStyle/>
          <a:p>
            <a:pPr algn="l" indent="0" marL="0">
              <a:lnSpc>
                <a:spcPts val="1155"/>
              </a:lnSpc>
              <a:buNone/>
            </a:pPr>
            <a:r>
              <a:rPr lang="en-US" sz="800" dirty="0">
                <a:solidFill>
                  <a:srgbClr val="33463C"/>
                </a:solidFill>
                <a:latin typeface="Carlito" pitchFamily="34" charset="0"/>
                <a:ea typeface="Carlito" pitchFamily="34" charset="-122"/>
                <a:cs typeface="Carlito" pitchFamily="34" charset="-120"/>
              </a:rPr>
              <a:t>In the few seconds a parent looks away, a toddler can reach a balcony edge, an open window or a damaged switch. That tiny gap in attention is all it takes — and it happens to the most caring parents.</a:t>
            </a:r>
            <a:endParaRPr lang="en-US" sz="800" dirty="0"/>
          </a:p>
        </p:txBody>
      </p:sp>
      <p:sp>
        <p:nvSpPr>
          <p:cNvPr id="10" name="Text 8"/>
          <p:cNvSpPr/>
          <p:nvPr/>
        </p:nvSpPr>
        <p:spPr>
          <a:xfrm>
            <a:off x="3346847" y="1082613"/>
            <a:ext cx="2821781" cy="2390366"/>
          </a:xfrm>
          <a:prstGeom prst="roundRect">
            <a:avLst>
              <a:gd name="adj" fmla="val 5579"/>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1" name="Text 9"/>
          <p:cNvSpPr/>
          <p:nvPr/>
        </p:nvSpPr>
        <p:spPr>
          <a:xfrm>
            <a:off x="3493294" y="1229060"/>
            <a:ext cx="314325" cy="314325"/>
          </a:xfrm>
          <a:prstGeom prst="roundRect">
            <a:avLst>
              <a:gd name="adj" fmla="val 30300000"/>
            </a:avLst>
          </a:prstGeom>
          <a:solidFill>
            <a:srgbClr val="E4EFE6"/>
          </a:solidFill>
          <a:ln/>
        </p:spPr>
        <p:txBody>
          <a:bodyPr wrap="square" rtlCol="0" anchor="ctr"/>
          <a:lstStyle/>
          <a:p>
            <a:pPr indent="0" marL="0">
              <a:buNone/>
            </a:pPr>
            <a:endParaRPr lang="en-US" dirty="0"/>
          </a:p>
        </p:txBody>
      </p:sp>
      <p:sp>
        <p:nvSpPr>
          <p:cNvPr id="12" name="Text 10"/>
          <p:cNvSpPr/>
          <p:nvPr/>
        </p:nvSpPr>
        <p:spPr>
          <a:xfrm>
            <a:off x="3531334" y="1267100"/>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13" name="Text 11"/>
          <p:cNvSpPr/>
          <p:nvPr/>
        </p:nvSpPr>
        <p:spPr>
          <a:xfrm>
            <a:off x="3493294" y="1629110"/>
            <a:ext cx="2638616" cy="159127"/>
          </a:xfrm>
          <a:prstGeom prst="rect">
            <a:avLst/>
          </a:prstGeom>
          <a:noFill/>
          <a:ln/>
        </p:spPr>
        <p:txBody>
          <a:bodyPr wrap="square" lIns="0" tIns="0" rIns="0" bIns="0" rtlCol="0" anchor="t"/>
          <a:lstStyle/>
          <a:p>
            <a:pPr algn="l" indent="0" marL="0">
              <a:lnSpc>
                <a:spcPts val="1160"/>
              </a:lnSpc>
              <a:buNone/>
            </a:pPr>
            <a:r>
              <a:rPr lang="en-US" sz="928" b="1" dirty="0">
                <a:solidFill>
                  <a:srgbClr val="1E4D3B"/>
                </a:solidFill>
                <a:latin typeface="Carlito" pitchFamily="34" charset="0"/>
                <a:ea typeface="Carlito" pitchFamily="34" charset="-122"/>
                <a:cs typeface="Carlito" pitchFamily="34" charset="-120"/>
              </a:rPr>
              <a:t>Broken things stay broken.</a:t>
            </a:r>
            <a:endParaRPr lang="en-US" sz="928" dirty="0"/>
          </a:p>
        </p:txBody>
      </p:sp>
      <p:sp>
        <p:nvSpPr>
          <p:cNvPr id="14" name="Text 12"/>
          <p:cNvSpPr/>
          <p:nvPr/>
        </p:nvSpPr>
        <p:spPr>
          <a:xfrm>
            <a:off x="3493294" y="1833600"/>
            <a:ext cx="2528888" cy="519889"/>
          </a:xfrm>
          <a:prstGeom prst="rect">
            <a:avLst/>
          </a:prstGeom>
          <a:noFill/>
          <a:ln/>
        </p:spPr>
        <p:txBody>
          <a:bodyPr wrap="square" lIns="0" tIns="0" rIns="0" bIns="0" rtlCol="0" anchor="t"/>
          <a:lstStyle/>
          <a:p>
            <a:pPr algn="l" indent="0" marL="0">
              <a:lnSpc>
                <a:spcPts val="1155"/>
              </a:lnSpc>
              <a:buNone/>
            </a:pPr>
            <a:r>
              <a:rPr lang="en-US" sz="800" dirty="0">
                <a:solidFill>
                  <a:srgbClr val="33463C"/>
                </a:solidFill>
                <a:latin typeface="Carlito" pitchFamily="34" charset="0"/>
                <a:ea typeface="Carlito" pitchFamily="34" charset="-122"/>
                <a:cs typeface="Carlito" pitchFamily="34" charset="-120"/>
              </a:rPr>
              <a:t>A cracked switch or exposed wiring often stays unrepaired because nobody tracks the fix. Reports get forgotten, and a small hazard quietly grows into a dangerous one.</a:t>
            </a:r>
            <a:endParaRPr lang="en-US" sz="800" dirty="0"/>
          </a:p>
        </p:txBody>
      </p:sp>
      <p:sp>
        <p:nvSpPr>
          <p:cNvPr id="15" name="Text 13"/>
          <p:cNvSpPr/>
          <p:nvPr/>
        </p:nvSpPr>
        <p:spPr>
          <a:xfrm>
            <a:off x="400050" y="3590851"/>
            <a:ext cx="5772150" cy="1020440"/>
          </a:xfrm>
          <a:prstGeom prst="roundRect">
            <a:avLst>
              <a:gd name="adj" fmla="val 13068"/>
            </a:avLst>
          </a:prstGeom>
          <a:solidFill>
            <a:srgbClr val="1E4D3B"/>
          </a:solidFill>
          <a:ln/>
        </p:spPr>
        <p:txBody>
          <a:bodyPr wrap="square" rtlCol="0" anchor="ctr"/>
          <a:lstStyle/>
          <a:p>
            <a:pPr indent="0" marL="0">
              <a:buNone/>
            </a:pPr>
            <a:endParaRPr lang="en-US" dirty="0"/>
          </a:p>
        </p:txBody>
      </p:sp>
      <p:sp>
        <p:nvSpPr>
          <p:cNvPr id="16" name="Text 14"/>
          <p:cNvSpPr/>
          <p:nvPr/>
        </p:nvSpPr>
        <p:spPr>
          <a:xfrm>
            <a:off x="557213" y="3723903"/>
            <a:ext cx="114300" cy="114300"/>
          </a:xfrm>
          <a:prstGeom prst="rect">
            <a:avLst/>
          </a:prstGeom>
          <a:noFill/>
          <a:ln/>
        </p:spPr>
        <p:txBody>
          <a:bodyPr wrap="none" lIns="0" tIns="0" rIns="0" bIns="0" rtlCol="0" anchor="ctr"/>
          <a:lstStyle/>
          <a:p>
            <a:pPr algn="ctr" indent="0" marL="0">
              <a:buNone/>
            </a:pPr>
            <a:r>
              <a:rPr lang="en-US" sz="1125" dirty="0">
                <a:solidFill>
                  <a:srgbClr val="E8B931"/>
                </a:solidFill>
                <a:latin typeface="Segoe UI Symbol" pitchFamily="34" charset="0"/>
                <a:ea typeface="Segoe UI Symbol" pitchFamily="34" charset="-122"/>
                <a:cs typeface="Segoe UI Symbol" pitchFamily="34" charset="-120"/>
              </a:rPr>
              <a:t>✓</a:t>
            </a:r>
            <a:endParaRPr lang="en-US" sz="1125" dirty="0"/>
          </a:p>
        </p:txBody>
      </p:sp>
      <p:sp>
        <p:nvSpPr>
          <p:cNvPr id="17" name="Text 15"/>
          <p:cNvSpPr/>
          <p:nvPr/>
        </p:nvSpPr>
        <p:spPr>
          <a:xfrm>
            <a:off x="728663" y="3719438"/>
            <a:ext cx="5286375" cy="164592"/>
          </a:xfrm>
          <a:prstGeom prst="rect">
            <a:avLst/>
          </a:prstGeom>
          <a:noFill/>
          <a:ln/>
        </p:spPr>
        <p:txBody>
          <a:bodyPr wrap="none" lIns="0" tIns="0" rIns="0" bIns="0" rtlCol="0" anchor="t"/>
          <a:lstStyle/>
          <a:p>
            <a:pPr algn="l" indent="0" marL="0">
              <a:lnSpc>
                <a:spcPts val="970"/>
              </a:lnSpc>
              <a:buNone/>
            </a:pPr>
            <a:r>
              <a:rPr lang="en-US" sz="800" b="1" spc="113" kern="0" dirty="0">
                <a:solidFill>
                  <a:srgbClr val="E8B931"/>
                </a:solidFill>
                <a:latin typeface="Carlito" pitchFamily="34" charset="0"/>
                <a:ea typeface="Carlito" pitchFamily="34" charset="-122"/>
                <a:cs typeface="Carlito" pitchFamily="34" charset="-120"/>
              </a:rPr>
              <a:t>OFFICIAL SOURCES WE STAND ON</a:t>
            </a:r>
            <a:endParaRPr lang="en-US" sz="800" dirty="0"/>
          </a:p>
        </p:txBody>
      </p:sp>
      <p:sp>
        <p:nvSpPr>
          <p:cNvPr id="18" name="Text 16"/>
          <p:cNvSpPr/>
          <p:nvPr/>
        </p:nvSpPr>
        <p:spPr>
          <a:xfrm>
            <a:off x="557213" y="3914105"/>
            <a:ext cx="5457825" cy="112206"/>
          </a:xfrm>
          <a:prstGeom prst="rect">
            <a:avLst/>
          </a:prstGeom>
          <a:noFill/>
          <a:ln/>
        </p:spPr>
        <p:txBody>
          <a:bodyPr wrap="square" lIns="0" tIns="0" rIns="0" bIns="0" rtlCol="0" anchor="t">
            <a:normAutofit/>
          </a:bodyPr>
          <a:lstStyle/>
          <a:p>
            <a:pPr algn="l" indent="0" marL="0">
              <a:lnSpc>
                <a:spcPts val="987"/>
              </a:lnSpc>
              <a:buNone/>
            </a:pPr>
            <a:r>
              <a:rPr lang="en-US" sz="800" b="1" dirty="0">
                <a:solidFill>
                  <a:srgbClr val="FBF9F4"/>
                </a:solidFill>
                <a:latin typeface="Carlito" pitchFamily="34" charset="0"/>
                <a:ea typeface="Carlito" pitchFamily="34" charset="-122"/>
                <a:cs typeface="Carlito" pitchFamily="34" charset="-120"/>
              </a:rPr>
              <a:t>Abu Dhabi Public Health Centre — Safety of Children at Home Guide</a:t>
            </a:r>
            <a:endParaRPr lang="en-US" sz="800" dirty="0"/>
          </a:p>
        </p:txBody>
      </p:sp>
      <p:sp>
        <p:nvSpPr>
          <p:cNvPr id="19" name="Text 17"/>
          <p:cNvSpPr/>
          <p:nvPr/>
        </p:nvSpPr>
        <p:spPr>
          <a:xfrm>
            <a:off x="557213" y="4053743"/>
            <a:ext cx="5457825" cy="164592"/>
          </a:xfrm>
          <a:prstGeom prst="rect">
            <a:avLst/>
          </a:prstGeom>
          <a:noFill/>
          <a:ln/>
        </p:spPr>
        <p:txBody>
          <a:bodyPr wrap="square" lIns="0" tIns="0" rIns="0" bIns="0" rtlCol="0" anchor="t"/>
          <a:lstStyle/>
          <a:p>
            <a:pPr algn="l" indent="0" marL="0">
              <a:lnSpc>
                <a:spcPts val="886"/>
              </a:lnSpc>
              <a:buNone/>
            </a:pPr>
            <a:r>
              <a:rPr lang="en-US" sz="600" u="sng" dirty="0">
                <a:solidFill>
                  <a:srgbClr val="E8B931"/>
                </a:solidFill>
                <a:latin typeface="Carlito" pitchFamily="34" charset="0"/>
                <a:ea typeface="Carlito" pitchFamily="34" charset="-122"/>
                <a:cs typeface="Carlito" pitchFamily="34" charset="-120"/>
              </a:rPr>
              <a:t>https://www.adphc.gov.ae/-/media/Project/ADPHC/ADPHC/PDF/Child-Injury-prevention/Child-Safety-Home-En.pdf</a:t>
            </a:r>
            <a:endParaRPr lang="en-US" sz="600" dirty="0"/>
          </a:p>
        </p:txBody>
      </p:sp>
      <p:sp>
        <p:nvSpPr>
          <p:cNvPr id="20" name="Text 18"/>
          <p:cNvSpPr/>
          <p:nvPr/>
        </p:nvSpPr>
        <p:spPr>
          <a:xfrm>
            <a:off x="557213" y="4230551"/>
            <a:ext cx="5457825" cy="112206"/>
          </a:xfrm>
          <a:prstGeom prst="rect">
            <a:avLst/>
          </a:prstGeom>
          <a:noFill/>
          <a:ln/>
        </p:spPr>
        <p:txBody>
          <a:bodyPr wrap="square" lIns="0" tIns="0" rIns="0" bIns="0" rtlCol="0" anchor="t">
            <a:normAutofit/>
          </a:bodyPr>
          <a:lstStyle/>
          <a:p>
            <a:pPr algn="l" indent="0" marL="0">
              <a:lnSpc>
                <a:spcPts val="987"/>
              </a:lnSpc>
              <a:buNone/>
            </a:pPr>
            <a:r>
              <a:rPr lang="en-US" sz="731" b="1" dirty="0">
                <a:solidFill>
                  <a:srgbClr val="FBF9F4"/>
                </a:solidFill>
                <a:latin typeface="Carlito" pitchFamily="34" charset="0"/>
                <a:ea typeface="Carlito" pitchFamily="34" charset="-122"/>
                <a:cs typeface="Carlito" pitchFamily="34" charset="-120"/>
              </a:rPr>
              <a:t>World Journal of Emergency Surgery (2017) — Child falls from windows &amp; balconies in the UAE, 2005–2016</a:t>
            </a:r>
            <a:endParaRPr lang="en-US" sz="731" dirty="0"/>
          </a:p>
        </p:txBody>
      </p:sp>
      <p:sp>
        <p:nvSpPr>
          <p:cNvPr id="21" name="Text 19"/>
          <p:cNvSpPr/>
          <p:nvPr/>
        </p:nvSpPr>
        <p:spPr>
          <a:xfrm>
            <a:off x="557213" y="4370189"/>
            <a:ext cx="5457825" cy="112514"/>
          </a:xfrm>
          <a:prstGeom prst="rect">
            <a:avLst/>
          </a:prstGeom>
          <a:noFill/>
          <a:ln/>
        </p:spPr>
        <p:txBody>
          <a:bodyPr wrap="square" lIns="0" tIns="0" rIns="0" bIns="0" rtlCol="0" anchor="t"/>
          <a:lstStyle/>
          <a:p>
            <a:pPr algn="l" indent="0" marL="0">
              <a:lnSpc>
                <a:spcPts val="886"/>
              </a:lnSpc>
              <a:buNone/>
            </a:pPr>
            <a:r>
              <a:rPr lang="en-US" sz="800" u="sng" dirty="0">
                <a:solidFill>
                  <a:srgbClr val="E8B931"/>
                </a:solidFill>
                <a:latin typeface="Carlito" pitchFamily="34" charset="0"/>
                <a:ea typeface="Carlito" pitchFamily="34" charset="-122"/>
                <a:cs typeface="Carlito" pitchFamily="34" charset="-120"/>
              </a:rPr>
              <a:t>https://pmc.ncbi.nlm.nih.gov/articles/PMC5644057/</a:t>
            </a:r>
            <a:endParaRPr lang="en-US" sz="800" dirty="0"/>
          </a:p>
        </p:txBody>
      </p:sp>
      <p:sp>
        <p:nvSpPr>
          <p:cNvPr id="22" name="Text 20"/>
          <p:cNvSpPr/>
          <p:nvPr/>
        </p:nvSpPr>
        <p:spPr>
          <a:xfrm>
            <a:off x="6347222" y="1082613"/>
            <a:ext cx="2393156" cy="3525106"/>
          </a:xfrm>
          <a:prstGeom prst="roundRect">
            <a:avLst>
              <a:gd name="adj" fmla="val 5572"/>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pic>
        <p:nvPicPr>
          <p:cNvPr id="23" name="Image 0" descr="/tmp/h2p-fit-1792648421957-6nsy6i.png">    </p:cNvPr>
          <p:cNvPicPr>
            <a:picLocks noChangeAspect="1"/>
          </p:cNvPicPr>
          <p:nvPr/>
        </p:nvPicPr>
        <p:blipFill>
          <a:blip r:embed="rId1"/>
          <a:stretch>
            <a:fillRect/>
          </a:stretch>
        </p:blipFill>
        <p:spPr>
          <a:xfrm>
            <a:off x="6350794" y="1086185"/>
            <a:ext cx="2386013" cy="1700213"/>
          </a:xfrm>
          <a:prstGeom prst="rect">
            <a:avLst/>
          </a:prstGeom>
        </p:spPr>
      </p:pic>
      <p:sp>
        <p:nvSpPr>
          <p:cNvPr id="24" name="Text 21"/>
          <p:cNvSpPr/>
          <p:nvPr/>
        </p:nvSpPr>
        <p:spPr>
          <a:xfrm>
            <a:off x="6479381" y="3251634"/>
            <a:ext cx="662940" cy="200597"/>
          </a:xfrm>
          <a:prstGeom prst="rect">
            <a:avLst/>
          </a:prstGeom>
          <a:noFill/>
          <a:ln/>
        </p:spPr>
        <p:txBody>
          <a:bodyPr wrap="none" lIns="0" tIns="0" rIns="0" bIns="0" rtlCol="0" anchor="t"/>
          <a:lstStyle/>
          <a:p>
            <a:pPr algn="l" indent="0" marL="0">
              <a:lnSpc>
                <a:spcPts val="1463"/>
              </a:lnSpc>
              <a:buNone/>
            </a:pPr>
            <a:r>
              <a:rPr lang="en-US" sz="1463" b="1" dirty="0">
                <a:solidFill>
                  <a:srgbClr val="1E4D3B"/>
                </a:solidFill>
                <a:latin typeface="Liberation Sans Narrow" pitchFamily="34" charset="0"/>
                <a:ea typeface="Liberation Sans Narrow" pitchFamily="34" charset="-122"/>
                <a:cs typeface="Liberation Sans Narrow" pitchFamily="34" charset="-120"/>
              </a:rPr>
              <a:t>81</a:t>
            </a:r>
            <a:endParaRPr lang="en-US" sz="1463" dirty="0"/>
          </a:p>
        </p:txBody>
      </p:sp>
      <p:sp>
        <p:nvSpPr>
          <p:cNvPr id="25" name="Text 22"/>
          <p:cNvSpPr/>
          <p:nvPr/>
        </p:nvSpPr>
        <p:spPr>
          <a:xfrm>
            <a:off x="6979444" y="3251634"/>
            <a:ext cx="1628775" cy="326202"/>
          </a:xfrm>
          <a:prstGeom prst="rect">
            <a:avLst/>
          </a:prstGeom>
          <a:noFill/>
          <a:ln/>
        </p:spPr>
        <p:txBody>
          <a:bodyPr wrap="square" lIns="0" tIns="14288" rIns="0" bIns="0" rtlCol="0" anchor="t"/>
          <a:lstStyle/>
          <a:p>
            <a:pPr algn="l" indent="0" marL="0">
              <a:lnSpc>
                <a:spcPts val="906"/>
              </a:lnSpc>
              <a:buNone/>
            </a:pPr>
            <a:r>
              <a:rPr lang="en-US" sz="800" dirty="0">
                <a:solidFill>
                  <a:srgbClr val="6B7A6F"/>
                </a:solidFill>
                <a:latin typeface="Carlito" pitchFamily="34" charset="0"/>
                <a:ea typeface="Carlito" pitchFamily="34" charset="-122"/>
                <a:cs typeface="Carlito" pitchFamily="34" charset="-120"/>
              </a:rPr>
              <a:t>reported child fall cases in the UAE (2005–2016)</a:t>
            </a:r>
            <a:endParaRPr lang="en-US" sz="800" dirty="0"/>
          </a:p>
        </p:txBody>
      </p:sp>
      <p:sp>
        <p:nvSpPr>
          <p:cNvPr id="26" name="Shape 23"/>
          <p:cNvSpPr/>
          <p:nvPr/>
        </p:nvSpPr>
        <p:spPr>
          <a:xfrm>
            <a:off x="6479381" y="3563727"/>
            <a:ext cx="2128838" cy="0"/>
          </a:xfrm>
          <a:prstGeom prst="line">
            <a:avLst/>
          </a:prstGeom>
          <a:noFill/>
          <a:ln w="7144">
            <a:solidFill>
              <a:srgbClr val="E7E0D2"/>
            </a:solidFill>
            <a:prstDash val="solid"/>
          </a:ln>
        </p:spPr>
      </p:sp>
      <p:sp>
        <p:nvSpPr>
          <p:cNvPr id="27" name="Text 24"/>
          <p:cNvSpPr/>
          <p:nvPr/>
        </p:nvSpPr>
        <p:spPr>
          <a:xfrm>
            <a:off x="6479381" y="3631592"/>
            <a:ext cx="662940" cy="200597"/>
          </a:xfrm>
          <a:prstGeom prst="rect">
            <a:avLst/>
          </a:prstGeom>
          <a:noFill/>
          <a:ln/>
        </p:spPr>
        <p:txBody>
          <a:bodyPr wrap="none" lIns="0" tIns="0" rIns="0" bIns="0" rtlCol="0" anchor="t"/>
          <a:lstStyle/>
          <a:p>
            <a:pPr algn="l" indent="0" marL="0">
              <a:lnSpc>
                <a:spcPts val="1463"/>
              </a:lnSpc>
              <a:buNone/>
            </a:pPr>
            <a:r>
              <a:rPr lang="en-US" sz="1463" b="1" dirty="0">
                <a:solidFill>
                  <a:srgbClr val="C0442B"/>
                </a:solidFill>
                <a:latin typeface="Liberation Sans Narrow" pitchFamily="34" charset="0"/>
                <a:ea typeface="Liberation Sans Narrow" pitchFamily="34" charset="-122"/>
                <a:cs typeface="Liberation Sans Narrow" pitchFamily="34" charset="-120"/>
              </a:rPr>
              <a:t>66</a:t>
            </a:r>
            <a:endParaRPr lang="en-US" sz="1463" dirty="0"/>
          </a:p>
        </p:txBody>
      </p:sp>
      <p:sp>
        <p:nvSpPr>
          <p:cNvPr id="28" name="Text 25"/>
          <p:cNvSpPr/>
          <p:nvPr/>
        </p:nvSpPr>
        <p:spPr>
          <a:xfrm>
            <a:off x="6979444" y="3631592"/>
            <a:ext cx="1628775" cy="172643"/>
          </a:xfrm>
          <a:prstGeom prst="rect">
            <a:avLst/>
          </a:prstGeom>
          <a:noFill/>
          <a:ln/>
        </p:spPr>
        <p:txBody>
          <a:bodyPr wrap="square" lIns="0" tIns="14288" rIns="0" bIns="0" rtlCol="0" anchor="t"/>
          <a:lstStyle/>
          <a:p>
            <a:pPr algn="l" indent="0" marL="0">
              <a:lnSpc>
                <a:spcPts val="906"/>
              </a:lnSpc>
              <a:buNone/>
            </a:pPr>
            <a:r>
              <a:rPr lang="en-US" sz="800" dirty="0">
                <a:solidFill>
                  <a:srgbClr val="6B7A6F"/>
                </a:solidFill>
                <a:latin typeface="Carlito" pitchFamily="34" charset="0"/>
                <a:ea typeface="Carlito" pitchFamily="34" charset="-122"/>
                <a:cs typeface="Carlito" pitchFamily="34" charset="-120"/>
              </a:rPr>
              <a:t>of them fatal</a:t>
            </a:r>
            <a:endParaRPr lang="en-US" sz="800" dirty="0"/>
          </a:p>
        </p:txBody>
      </p:sp>
      <p:sp>
        <p:nvSpPr>
          <p:cNvPr id="29" name="Shape 26"/>
          <p:cNvSpPr/>
          <p:nvPr/>
        </p:nvSpPr>
        <p:spPr>
          <a:xfrm>
            <a:off x="6479381" y="3885195"/>
            <a:ext cx="2128838" cy="0"/>
          </a:xfrm>
          <a:prstGeom prst="line">
            <a:avLst/>
          </a:prstGeom>
          <a:noFill/>
          <a:ln w="7144">
            <a:solidFill>
              <a:srgbClr val="E7E0D2"/>
            </a:solidFill>
            <a:prstDash val="solid"/>
          </a:ln>
        </p:spPr>
      </p:sp>
      <p:sp>
        <p:nvSpPr>
          <p:cNvPr id="30" name="Text 27"/>
          <p:cNvSpPr/>
          <p:nvPr/>
        </p:nvSpPr>
        <p:spPr>
          <a:xfrm>
            <a:off x="6479381" y="3953061"/>
            <a:ext cx="662940" cy="200597"/>
          </a:xfrm>
          <a:prstGeom prst="rect">
            <a:avLst/>
          </a:prstGeom>
          <a:noFill/>
          <a:ln/>
        </p:spPr>
        <p:txBody>
          <a:bodyPr wrap="none" lIns="0" tIns="0" rIns="0" bIns="0" rtlCol="0" anchor="t"/>
          <a:lstStyle/>
          <a:p>
            <a:pPr algn="l" indent="0" marL="0">
              <a:lnSpc>
                <a:spcPts val="1463"/>
              </a:lnSpc>
              <a:buNone/>
            </a:pPr>
            <a:r>
              <a:rPr lang="en-US" sz="1463" b="1" dirty="0">
                <a:solidFill>
                  <a:srgbClr val="8F6E12"/>
                </a:solidFill>
                <a:latin typeface="Liberation Sans Narrow" pitchFamily="34" charset="0"/>
                <a:ea typeface="Liberation Sans Narrow" pitchFamily="34" charset="-122"/>
                <a:cs typeface="Liberation Sans Narrow" pitchFamily="34" charset="-120"/>
              </a:rPr>
              <a:t>27%</a:t>
            </a:r>
            <a:endParaRPr lang="en-US" sz="1463" dirty="0"/>
          </a:p>
        </p:txBody>
      </p:sp>
      <p:sp>
        <p:nvSpPr>
          <p:cNvPr id="31" name="Text 28"/>
          <p:cNvSpPr/>
          <p:nvPr/>
        </p:nvSpPr>
        <p:spPr>
          <a:xfrm>
            <a:off x="6979444" y="3953061"/>
            <a:ext cx="1745937" cy="172643"/>
          </a:xfrm>
          <a:prstGeom prst="rect">
            <a:avLst/>
          </a:prstGeom>
          <a:noFill/>
          <a:ln/>
        </p:spPr>
        <p:txBody>
          <a:bodyPr wrap="square" lIns="0" tIns="14288" rIns="0" bIns="0" rtlCol="0" anchor="t"/>
          <a:lstStyle/>
          <a:p>
            <a:pPr algn="l" indent="0" marL="0">
              <a:lnSpc>
                <a:spcPts val="906"/>
              </a:lnSpc>
              <a:buNone/>
            </a:pPr>
            <a:r>
              <a:rPr lang="en-US" sz="647" dirty="0">
                <a:solidFill>
                  <a:srgbClr val="6B7A6F"/>
                </a:solidFill>
                <a:latin typeface="Carlito" pitchFamily="34" charset="0"/>
                <a:ea typeface="Carlito" pitchFamily="34" charset="-122"/>
                <a:cs typeface="Carlito" pitchFamily="34" charset="-120"/>
              </a:rPr>
              <a:t>involved furniture near windows or balconies</a:t>
            </a:r>
            <a:endParaRPr lang="en-US" sz="647" dirty="0"/>
          </a:p>
        </p:txBody>
      </p:sp>
      <p:sp>
        <p:nvSpPr>
          <p:cNvPr id="32" name="Text 29"/>
          <p:cNvSpPr/>
          <p:nvPr/>
        </p:nvSpPr>
        <p:spPr>
          <a:xfrm>
            <a:off x="3139008" y="4730948"/>
            <a:ext cx="121444" cy="121444"/>
          </a:xfrm>
          <a:prstGeom prst="rect">
            <a:avLst/>
          </a:prstGeom>
          <a:noFill/>
          <a:ln/>
        </p:spPr>
        <p:txBody>
          <a:bodyPr wrap="none" lIns="0" tIns="0" rIns="0" bIns="0" rtlCol="0" anchor="ctr"/>
          <a:lstStyle/>
          <a:p>
            <a:pPr algn="ctr" indent="0" marL="0">
              <a:buNone/>
            </a:pPr>
            <a:r>
              <a:rPr lang="en-US" sz="1195" dirty="0">
                <a:solidFill>
                  <a:srgbClr val="8F6E12"/>
                </a:solidFill>
                <a:latin typeface="Segoe UI Symbol" pitchFamily="34" charset="0"/>
                <a:ea typeface="Segoe UI Symbol" pitchFamily="34" charset="-122"/>
                <a:cs typeface="Segoe UI Symbol" pitchFamily="34" charset="-120"/>
              </a:rPr>
              <a:t>♥</a:t>
            </a:r>
            <a:endParaRPr lang="en-US" sz="1195" dirty="0"/>
          </a:p>
        </p:txBody>
      </p:sp>
      <p:sp>
        <p:nvSpPr>
          <p:cNvPr id="33" name="Text 30"/>
          <p:cNvSpPr/>
          <p:nvPr/>
        </p:nvSpPr>
        <p:spPr>
          <a:xfrm>
            <a:off x="3324746" y="4711303"/>
            <a:ext cx="5419204" cy="173593"/>
          </a:xfrm>
          <a:prstGeom prst="rect">
            <a:avLst/>
          </a:prstGeom>
          <a:noFill/>
          <a:ln/>
        </p:spPr>
        <p:txBody>
          <a:bodyPr wrap="none" lIns="0" tIns="0" rIns="0" bIns="0" rtlCol="0" anchor="t"/>
          <a:lstStyle/>
          <a:p>
            <a:pPr algn="l" indent="0" marL="0">
              <a:lnSpc>
                <a:spcPts val="1266"/>
              </a:lnSpc>
              <a:buNone/>
            </a:pPr>
            <a:r>
              <a:rPr lang="en-US" sz="844" i="1" dirty="0">
                <a:solidFill>
                  <a:srgbClr val="8F6E12"/>
                </a:solidFill>
                <a:latin typeface="Carlito" pitchFamily="34" charset="0"/>
                <a:ea typeface="Carlito" pitchFamily="34" charset="-122"/>
                <a:cs typeface="Carlito" pitchFamily="34" charset="-120"/>
              </a:rPr>
              <a:t>Behind every number is a name a family still misses.</a:t>
            </a:r>
            <a:endParaRPr lang="en-US" sz="84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00050" y="314325"/>
            <a:ext cx="8636000" cy="319339"/>
          </a:xfrm>
          <a:prstGeom prst="rect">
            <a:avLst/>
          </a:prstGeom>
          <a:noFill/>
          <a:ln/>
        </p:spPr>
        <p:txBody>
          <a:bodyPr wrap="square" lIns="0" tIns="0" rIns="0" bIns="0" rtlCol="0" anchor="t"/>
          <a:lstStyle/>
          <a:p>
            <a:pPr algn="l" indent="0" marL="0">
              <a:lnSpc>
                <a:spcPts val="2329"/>
              </a:lnSpc>
              <a:buNone/>
            </a:pPr>
            <a:r>
              <a:rPr lang="en-US" sz="2025" b="1" dirty="0">
                <a:solidFill>
                  <a:srgbClr val="1E4D3B"/>
                </a:solidFill>
                <a:latin typeface="Carlito" pitchFamily="34" charset="0"/>
                <a:ea typeface="Carlito" pitchFamily="34" charset="-122"/>
                <a:cs typeface="Carlito" pitchFamily="34" charset="-120"/>
              </a:rPr>
              <a:t>Prerequisites — Setting Up the Guardian</a:t>
            </a:r>
            <a:endParaRPr lang="en-US" sz="2025" dirty="0"/>
          </a:p>
        </p:txBody>
      </p:sp>
      <p:sp>
        <p:nvSpPr>
          <p:cNvPr id="3" name="Text 1"/>
          <p:cNvSpPr/>
          <p:nvPr/>
        </p:nvSpPr>
        <p:spPr>
          <a:xfrm>
            <a:off x="400050" y="681447"/>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4" name="Text 2"/>
          <p:cNvSpPr/>
          <p:nvPr/>
        </p:nvSpPr>
        <p:spPr>
          <a:xfrm>
            <a:off x="403622" y="835037"/>
            <a:ext cx="8336756" cy="378619"/>
          </a:xfrm>
          <a:prstGeom prst="roundRect">
            <a:avLst>
              <a:gd name="adj" fmla="val 35220"/>
            </a:avLst>
          </a:prstGeom>
          <a:solidFill>
            <a:srgbClr val="FBF3DC"/>
          </a:solidFill>
          <a:ln w="7144">
            <a:solidFill>
              <a:srgbClr val="EFDFB2"/>
            </a:solidFill>
            <a:prstDash val="solid"/>
          </a:ln>
        </p:spPr>
        <p:txBody>
          <a:bodyPr wrap="square" rtlCol="0" anchor="ctr"/>
          <a:lstStyle/>
          <a:p>
            <a:pPr indent="0" marL="0">
              <a:buNone/>
            </a:pPr>
            <a:endParaRPr lang="en-US" dirty="0"/>
          </a:p>
        </p:txBody>
      </p:sp>
      <p:sp>
        <p:nvSpPr>
          <p:cNvPr id="5" name="Text 3"/>
          <p:cNvSpPr/>
          <p:nvPr/>
        </p:nvSpPr>
        <p:spPr>
          <a:xfrm>
            <a:off x="550069" y="938622"/>
            <a:ext cx="171450" cy="171450"/>
          </a:xfrm>
          <a:prstGeom prst="rect">
            <a:avLst/>
          </a:prstGeom>
          <a:noFill/>
          <a:ln/>
        </p:spPr>
        <p:txBody>
          <a:bodyPr wrap="none" lIns="0" tIns="0" rIns="0" bIns="0" rtlCol="0" anchor="ctr"/>
          <a:lstStyle/>
          <a:p>
            <a:pPr algn="ctr" indent="0" marL="0">
              <a:buNone/>
            </a:pPr>
            <a:r>
              <a:rPr lang="en-US" sz="1688" dirty="0">
                <a:solidFill>
                  <a:srgbClr val="8F6E12"/>
                </a:solidFill>
                <a:latin typeface="Segoe UI Symbol" pitchFamily="34" charset="0"/>
                <a:ea typeface="Segoe UI Symbol" pitchFamily="34" charset="-122"/>
                <a:cs typeface="Segoe UI Symbol" pitchFamily="34" charset="-120"/>
              </a:rPr>
              <a:t>✚</a:t>
            </a:r>
            <a:endParaRPr lang="en-US" sz="1688" dirty="0"/>
          </a:p>
        </p:txBody>
      </p:sp>
      <p:sp>
        <p:nvSpPr>
          <p:cNvPr id="6" name="Text 4"/>
          <p:cNvSpPr/>
          <p:nvPr/>
        </p:nvSpPr>
        <p:spPr>
          <a:xfrm>
            <a:off x="821531" y="949226"/>
            <a:ext cx="7772400" cy="160846"/>
          </a:xfrm>
          <a:prstGeom prst="rect">
            <a:avLst/>
          </a:prstGeom>
          <a:noFill/>
          <a:ln/>
        </p:spPr>
        <p:txBody>
          <a:bodyPr wrap="square" lIns="0" tIns="0" rIns="0" bIns="0" rtlCol="0" anchor="t"/>
          <a:lstStyle/>
          <a:p>
            <a:pPr algn="l" indent="0" marL="0">
              <a:lnSpc>
                <a:spcPts val="1183"/>
              </a:lnSpc>
              <a:buNone/>
            </a:pPr>
            <a:r>
              <a:rPr lang="en-US" sz="816" dirty="0">
                <a:solidFill>
                  <a:srgbClr val="1E4D3B"/>
                </a:solidFill>
                <a:latin typeface="Carlito" pitchFamily="34" charset="0"/>
                <a:ea typeface="Carlito" pitchFamily="34" charset="-122"/>
                <a:cs typeface="Carlito" pitchFamily="34" charset="-120"/>
              </a:rPr>
              <a:t>One fixed camera, safely mounted, focused on the danger zones — never around a child's neck, never within a child's reach.</a:t>
            </a:r>
            <a:endParaRPr lang="en-US" sz="816" dirty="0"/>
          </a:p>
        </p:txBody>
      </p:sp>
      <p:sp>
        <p:nvSpPr>
          <p:cNvPr id="7" name="Shape 5"/>
          <p:cNvSpPr/>
          <p:nvPr/>
        </p:nvSpPr>
        <p:spPr>
          <a:xfrm>
            <a:off x="400050" y="2329309"/>
            <a:ext cx="5286375" cy="0"/>
          </a:xfrm>
          <a:prstGeom prst="line">
            <a:avLst/>
          </a:prstGeom>
          <a:noFill/>
          <a:ln w="7144">
            <a:solidFill>
              <a:srgbClr val="E7E0D2"/>
            </a:solidFill>
            <a:prstDash val="solid"/>
          </a:ln>
        </p:spPr>
      </p:sp>
      <p:sp>
        <p:nvSpPr>
          <p:cNvPr id="8" name="Text 6"/>
          <p:cNvSpPr/>
          <p:nvPr/>
        </p:nvSpPr>
        <p:spPr>
          <a:xfrm>
            <a:off x="400050" y="1904256"/>
            <a:ext cx="328613" cy="328613"/>
          </a:xfrm>
          <a:prstGeom prst="roundRect">
            <a:avLst>
              <a:gd name="adj" fmla="val 34783"/>
            </a:avLst>
          </a:prstGeom>
          <a:solidFill>
            <a:srgbClr val="E4EFE6"/>
          </a:solidFill>
          <a:ln/>
        </p:spPr>
        <p:txBody>
          <a:bodyPr wrap="square" rtlCol="0" anchor="ctr"/>
          <a:lstStyle/>
          <a:p>
            <a:pPr indent="0" marL="0">
              <a:buNone/>
            </a:pPr>
            <a:endParaRPr lang="en-US" dirty="0"/>
          </a:p>
        </p:txBody>
      </p:sp>
      <p:sp>
        <p:nvSpPr>
          <p:cNvPr id="9" name="Text 7"/>
          <p:cNvSpPr/>
          <p:nvPr/>
        </p:nvSpPr>
        <p:spPr>
          <a:xfrm>
            <a:off x="440055" y="1944261"/>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10" name="Text 8"/>
          <p:cNvSpPr/>
          <p:nvPr/>
        </p:nvSpPr>
        <p:spPr>
          <a:xfrm>
            <a:off x="842963" y="1904256"/>
            <a:ext cx="2325759" cy="160091"/>
          </a:xfrm>
          <a:prstGeom prst="rect">
            <a:avLst/>
          </a:prstGeom>
          <a:noFill/>
          <a:ln/>
        </p:spPr>
        <p:txBody>
          <a:bodyPr wrap="none" lIns="0" tIns="0" rIns="0" bIns="0" rtlCol="0" anchor="t">
            <a:normAutofit/>
          </a:bodyPr>
          <a:lstStyle/>
          <a:p>
            <a:pPr algn="l" indent="0" marL="0">
              <a:lnSpc>
                <a:spcPts val="1308"/>
              </a:lnSpc>
              <a:buNone/>
            </a:pPr>
            <a:r>
              <a:rPr lang="en-US" sz="872" b="1" dirty="0">
                <a:solidFill>
                  <a:srgbClr val="1E4D3B"/>
                </a:solidFill>
                <a:latin typeface="Carlito" pitchFamily="34" charset="0"/>
                <a:ea typeface="Carlito" pitchFamily="34" charset="-122"/>
                <a:cs typeface="Carlito" pitchFamily="34" charset="-120"/>
              </a:rPr>
              <a:t>Balconies &amp; terrace doors</a:t>
            </a:r>
            <a:endParaRPr lang="en-US" sz="872" dirty="0"/>
          </a:p>
        </p:txBody>
      </p:sp>
      <p:sp>
        <p:nvSpPr>
          <p:cNvPr id="11" name="Text 9"/>
          <p:cNvSpPr/>
          <p:nvPr/>
        </p:nvSpPr>
        <p:spPr>
          <a:xfrm>
            <a:off x="842963" y="2091779"/>
            <a:ext cx="2215009" cy="141089"/>
          </a:xfrm>
          <a:prstGeom prst="rect">
            <a:avLst/>
          </a:prstGeom>
          <a:noFill/>
          <a:ln/>
        </p:spPr>
        <p:txBody>
          <a:bodyPr wrap="square" lIns="0" tIns="0" rIns="0" bIns="0" rtlCol="0" anchor="t"/>
          <a:lstStyle/>
          <a:p>
            <a:pPr algn="l" indent="0" marL="0">
              <a:lnSpc>
                <a:spcPts val="1060"/>
              </a:lnSpc>
              <a:buNone/>
            </a:pPr>
            <a:r>
              <a:rPr lang="en-US" sz="731" dirty="0">
                <a:solidFill>
                  <a:srgbClr val="6B7A6F"/>
                </a:solidFill>
                <a:latin typeface="Carlito" pitchFamily="34" charset="0"/>
                <a:ea typeface="Carlito" pitchFamily="34" charset="-122"/>
                <a:cs typeface="Carlito" pitchFamily="34" charset="-120"/>
              </a:rPr>
              <a:t>Detect open access and a child approaching the edge</a:t>
            </a:r>
            <a:endParaRPr lang="en-US" sz="731" dirty="0"/>
          </a:p>
        </p:txBody>
      </p:sp>
      <p:sp>
        <p:nvSpPr>
          <p:cNvPr id="12" name="Shape 10"/>
          <p:cNvSpPr/>
          <p:nvPr/>
        </p:nvSpPr>
        <p:spPr>
          <a:xfrm>
            <a:off x="400050" y="2865090"/>
            <a:ext cx="5286375" cy="0"/>
          </a:xfrm>
          <a:prstGeom prst="line">
            <a:avLst/>
          </a:prstGeom>
          <a:noFill/>
          <a:ln w="7144">
            <a:solidFill>
              <a:srgbClr val="E7E0D2"/>
            </a:solidFill>
            <a:prstDash val="solid"/>
          </a:ln>
        </p:spPr>
      </p:sp>
      <p:sp>
        <p:nvSpPr>
          <p:cNvPr id="13" name="Text 11"/>
          <p:cNvSpPr/>
          <p:nvPr/>
        </p:nvSpPr>
        <p:spPr>
          <a:xfrm>
            <a:off x="400050" y="2440037"/>
            <a:ext cx="328613" cy="328613"/>
          </a:xfrm>
          <a:prstGeom prst="roundRect">
            <a:avLst>
              <a:gd name="adj" fmla="val 34783"/>
            </a:avLst>
          </a:prstGeom>
          <a:solidFill>
            <a:srgbClr val="E4EFE6"/>
          </a:solidFill>
          <a:ln/>
        </p:spPr>
        <p:txBody>
          <a:bodyPr wrap="square" rtlCol="0" anchor="ctr"/>
          <a:lstStyle/>
          <a:p>
            <a:pPr indent="0" marL="0">
              <a:buNone/>
            </a:pPr>
            <a:endParaRPr lang="en-US" dirty="0"/>
          </a:p>
        </p:txBody>
      </p:sp>
      <p:sp>
        <p:nvSpPr>
          <p:cNvPr id="14" name="Text 12"/>
          <p:cNvSpPr/>
          <p:nvPr/>
        </p:nvSpPr>
        <p:spPr>
          <a:xfrm>
            <a:off x="440055" y="2480042"/>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15" name="Text 13"/>
          <p:cNvSpPr/>
          <p:nvPr/>
        </p:nvSpPr>
        <p:spPr>
          <a:xfrm>
            <a:off x="842963" y="2440037"/>
            <a:ext cx="4843463" cy="160091"/>
          </a:xfrm>
          <a:prstGeom prst="rect">
            <a:avLst/>
          </a:prstGeom>
          <a:noFill/>
          <a:ln/>
        </p:spPr>
        <p:txBody>
          <a:bodyPr wrap="none" lIns="0" tIns="0" rIns="0" bIns="0" rtlCol="0" anchor="t">
            <a:normAutofit/>
          </a:bodyPr>
          <a:lstStyle/>
          <a:p>
            <a:pPr algn="l" indent="0" marL="0">
              <a:lnSpc>
                <a:spcPts val="1308"/>
              </a:lnSpc>
              <a:buNone/>
            </a:pPr>
            <a:r>
              <a:rPr lang="en-US" sz="872" b="1" dirty="0">
                <a:solidFill>
                  <a:srgbClr val="1E4D3B"/>
                </a:solidFill>
                <a:latin typeface="Carlito" pitchFamily="34" charset="0"/>
                <a:ea typeface="Carlito" pitchFamily="34" charset="-122"/>
                <a:cs typeface="Carlito" pitchFamily="34" charset="-120"/>
              </a:rPr>
              <a:t>Windows</a:t>
            </a:r>
            <a:endParaRPr lang="en-US" sz="872" dirty="0"/>
          </a:p>
        </p:txBody>
      </p:sp>
      <p:sp>
        <p:nvSpPr>
          <p:cNvPr id="16" name="Text 14"/>
          <p:cNvSpPr/>
          <p:nvPr/>
        </p:nvSpPr>
        <p:spPr>
          <a:xfrm>
            <a:off x="842963" y="2627561"/>
            <a:ext cx="4408252" cy="141089"/>
          </a:xfrm>
          <a:prstGeom prst="rect">
            <a:avLst/>
          </a:prstGeom>
          <a:noFill/>
          <a:ln/>
        </p:spPr>
        <p:txBody>
          <a:bodyPr wrap="square" lIns="0" tIns="0" rIns="0" bIns="0" rtlCol="0" anchor="t"/>
          <a:lstStyle/>
          <a:p>
            <a:pPr algn="l" indent="0" marL="0">
              <a:lnSpc>
                <a:spcPts val="1060"/>
              </a:lnSpc>
              <a:buNone/>
            </a:pPr>
            <a:r>
              <a:rPr lang="en-US" sz="731" dirty="0">
                <a:solidFill>
                  <a:srgbClr val="6B7A6F"/>
                </a:solidFill>
                <a:latin typeface="Carlito" pitchFamily="34" charset="0"/>
                <a:ea typeface="Carlito" pitchFamily="34" charset="-122"/>
                <a:cs typeface="Carlito" pitchFamily="34" charset="-120"/>
              </a:rPr>
              <a:t>Monitor zones near climbable furniture — furniture near windows was involved in 27% of reported UAE falls</a:t>
            </a:r>
            <a:endParaRPr lang="en-US" sz="731" dirty="0"/>
          </a:p>
        </p:txBody>
      </p:sp>
      <p:sp>
        <p:nvSpPr>
          <p:cNvPr id="17" name="Shape 15"/>
          <p:cNvSpPr/>
          <p:nvPr/>
        </p:nvSpPr>
        <p:spPr>
          <a:xfrm>
            <a:off x="400050" y="3400871"/>
            <a:ext cx="5286375" cy="0"/>
          </a:xfrm>
          <a:prstGeom prst="line">
            <a:avLst/>
          </a:prstGeom>
          <a:noFill/>
          <a:ln w="7144">
            <a:solidFill>
              <a:srgbClr val="E7E0D2"/>
            </a:solidFill>
            <a:prstDash val="solid"/>
          </a:ln>
        </p:spPr>
      </p:sp>
      <p:sp>
        <p:nvSpPr>
          <p:cNvPr id="18" name="Text 16"/>
          <p:cNvSpPr/>
          <p:nvPr/>
        </p:nvSpPr>
        <p:spPr>
          <a:xfrm>
            <a:off x="400050" y="2975818"/>
            <a:ext cx="328613" cy="328613"/>
          </a:xfrm>
          <a:prstGeom prst="roundRect">
            <a:avLst>
              <a:gd name="adj" fmla="val 34783"/>
            </a:avLst>
          </a:prstGeom>
          <a:solidFill>
            <a:srgbClr val="E4EFE6"/>
          </a:solidFill>
          <a:ln/>
        </p:spPr>
        <p:txBody>
          <a:bodyPr wrap="square" rtlCol="0" anchor="ctr"/>
          <a:lstStyle/>
          <a:p>
            <a:pPr indent="0" marL="0">
              <a:buNone/>
            </a:pPr>
            <a:endParaRPr lang="en-US" dirty="0"/>
          </a:p>
        </p:txBody>
      </p:sp>
      <p:sp>
        <p:nvSpPr>
          <p:cNvPr id="19" name="Text 17"/>
          <p:cNvSpPr/>
          <p:nvPr/>
        </p:nvSpPr>
        <p:spPr>
          <a:xfrm>
            <a:off x="440055" y="3015823"/>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20" name="Text 18"/>
          <p:cNvSpPr/>
          <p:nvPr/>
        </p:nvSpPr>
        <p:spPr>
          <a:xfrm>
            <a:off x="842963" y="2975818"/>
            <a:ext cx="2867602" cy="160091"/>
          </a:xfrm>
          <a:prstGeom prst="rect">
            <a:avLst/>
          </a:prstGeom>
          <a:noFill/>
          <a:ln/>
        </p:spPr>
        <p:txBody>
          <a:bodyPr wrap="square" lIns="0" tIns="0" rIns="0" bIns="0" rtlCol="0" anchor="t">
            <a:normAutofit/>
          </a:bodyPr>
          <a:lstStyle/>
          <a:p>
            <a:pPr algn="l" indent="0" marL="0">
              <a:lnSpc>
                <a:spcPts val="1308"/>
              </a:lnSpc>
              <a:buNone/>
            </a:pPr>
            <a:r>
              <a:rPr lang="en-US" sz="872" b="1" dirty="0">
                <a:solidFill>
                  <a:srgbClr val="1E4D3B"/>
                </a:solidFill>
                <a:latin typeface="Carlito" pitchFamily="34" charset="0"/>
                <a:ea typeface="Carlito" pitchFamily="34" charset="-122"/>
                <a:cs typeface="Carlito" pitchFamily="34" charset="-120"/>
              </a:rPr>
              <a:t>Switchboards, wiring &amp; damaged fittings</a:t>
            </a:r>
            <a:endParaRPr lang="en-US" sz="872" dirty="0"/>
          </a:p>
        </p:txBody>
      </p:sp>
      <p:sp>
        <p:nvSpPr>
          <p:cNvPr id="21" name="Text 19"/>
          <p:cNvSpPr/>
          <p:nvPr/>
        </p:nvSpPr>
        <p:spPr>
          <a:xfrm>
            <a:off x="842963" y="3163342"/>
            <a:ext cx="2606911" cy="141089"/>
          </a:xfrm>
          <a:prstGeom prst="rect">
            <a:avLst/>
          </a:prstGeom>
          <a:noFill/>
          <a:ln/>
        </p:spPr>
        <p:txBody>
          <a:bodyPr wrap="square" lIns="0" tIns="0" rIns="0" bIns="0" rtlCol="0" anchor="t"/>
          <a:lstStyle/>
          <a:p>
            <a:pPr algn="l" indent="0" marL="0">
              <a:lnSpc>
                <a:spcPts val="1060"/>
              </a:lnSpc>
              <a:buNone/>
            </a:pPr>
            <a:r>
              <a:rPr lang="en-US" sz="731" dirty="0">
                <a:solidFill>
                  <a:srgbClr val="6B7A6F"/>
                </a:solidFill>
                <a:latin typeface="Carlito" pitchFamily="34" charset="0"/>
                <a:ea typeface="Carlito" pitchFamily="34" charset="-122"/>
                <a:cs typeface="Carlito" pitchFamily="34" charset="-120"/>
              </a:rPr>
              <a:t>Spot visible electrical damage before it becomes an emergency</a:t>
            </a:r>
            <a:endParaRPr lang="en-US" sz="731" dirty="0"/>
          </a:p>
        </p:txBody>
      </p:sp>
      <p:sp>
        <p:nvSpPr>
          <p:cNvPr id="22" name="Text 20"/>
          <p:cNvSpPr/>
          <p:nvPr/>
        </p:nvSpPr>
        <p:spPr>
          <a:xfrm>
            <a:off x="400050" y="3511600"/>
            <a:ext cx="328613" cy="328613"/>
          </a:xfrm>
          <a:prstGeom prst="roundRect">
            <a:avLst>
              <a:gd name="adj" fmla="val 34783"/>
            </a:avLst>
          </a:prstGeom>
          <a:solidFill>
            <a:srgbClr val="E4EFE6"/>
          </a:solidFill>
          <a:ln/>
        </p:spPr>
        <p:txBody>
          <a:bodyPr wrap="square" rtlCol="0" anchor="ctr"/>
          <a:lstStyle/>
          <a:p>
            <a:pPr indent="0" marL="0">
              <a:buNone/>
            </a:pPr>
            <a:endParaRPr lang="en-US" dirty="0"/>
          </a:p>
        </p:txBody>
      </p:sp>
      <p:sp>
        <p:nvSpPr>
          <p:cNvPr id="23" name="Text 21"/>
          <p:cNvSpPr/>
          <p:nvPr/>
        </p:nvSpPr>
        <p:spPr>
          <a:xfrm>
            <a:off x="440055" y="3551605"/>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24" name="Text 22"/>
          <p:cNvSpPr/>
          <p:nvPr/>
        </p:nvSpPr>
        <p:spPr>
          <a:xfrm>
            <a:off x="842963" y="3511600"/>
            <a:ext cx="2500480" cy="160091"/>
          </a:xfrm>
          <a:prstGeom prst="rect">
            <a:avLst/>
          </a:prstGeom>
          <a:noFill/>
          <a:ln/>
        </p:spPr>
        <p:txBody>
          <a:bodyPr wrap="square" lIns="0" tIns="0" rIns="0" bIns="0" rtlCol="0" anchor="t">
            <a:normAutofit/>
          </a:bodyPr>
          <a:lstStyle/>
          <a:p>
            <a:pPr algn="l" indent="0" marL="0">
              <a:lnSpc>
                <a:spcPts val="1308"/>
              </a:lnSpc>
              <a:buNone/>
            </a:pPr>
            <a:r>
              <a:rPr lang="en-US" sz="872" b="1" dirty="0">
                <a:solidFill>
                  <a:srgbClr val="1E4D3B"/>
                </a:solidFill>
                <a:latin typeface="Carlito" pitchFamily="34" charset="0"/>
                <a:ea typeface="Carlito" pitchFamily="34" charset="-122"/>
                <a:cs typeface="Carlito" pitchFamily="34" charset="-120"/>
              </a:rPr>
              <a:t>Doors, gates &amp; utility areas</a:t>
            </a:r>
            <a:endParaRPr lang="en-US" sz="872" dirty="0"/>
          </a:p>
        </p:txBody>
      </p:sp>
      <p:sp>
        <p:nvSpPr>
          <p:cNvPr id="25" name="Text 23"/>
          <p:cNvSpPr/>
          <p:nvPr/>
        </p:nvSpPr>
        <p:spPr>
          <a:xfrm>
            <a:off x="842963" y="3699123"/>
            <a:ext cx="2273164" cy="159053"/>
          </a:xfrm>
          <a:prstGeom prst="rect">
            <a:avLst/>
          </a:prstGeom>
          <a:noFill/>
          <a:ln/>
        </p:spPr>
        <p:txBody>
          <a:bodyPr wrap="square" lIns="0" tIns="0" rIns="0" bIns="0" rtlCol="0" anchor="t"/>
          <a:lstStyle/>
          <a:p>
            <a:pPr algn="l" indent="0" marL="0">
              <a:lnSpc>
                <a:spcPts val="1060"/>
              </a:lnSpc>
              <a:buNone/>
            </a:pPr>
            <a:r>
              <a:rPr lang="en-US" sz="731" dirty="0">
                <a:solidFill>
                  <a:srgbClr val="6B7A6F"/>
                </a:solidFill>
                <a:latin typeface="Carlito" pitchFamily="34" charset="0"/>
                <a:ea typeface="Carlito" pitchFamily="34" charset="-122"/>
                <a:cs typeface="Carlito" pitchFamily="34" charset="-120"/>
              </a:rPr>
              <a:t>Watch the paths that lead to every unsupervised corner</a:t>
            </a:r>
            <a:endParaRPr lang="en-US" sz="731" dirty="0"/>
          </a:p>
        </p:txBody>
      </p:sp>
      <p:sp>
        <p:nvSpPr>
          <p:cNvPr id="26" name="Text 24"/>
          <p:cNvSpPr/>
          <p:nvPr/>
        </p:nvSpPr>
        <p:spPr>
          <a:xfrm>
            <a:off x="400050" y="4498777"/>
            <a:ext cx="7013368" cy="136874"/>
          </a:xfrm>
          <a:prstGeom prst="rect">
            <a:avLst/>
          </a:prstGeom>
          <a:noFill/>
          <a:ln/>
        </p:spPr>
        <p:txBody>
          <a:bodyPr wrap="none" lIns="0" tIns="0" rIns="0" bIns="0" rtlCol="0" anchor="t">
            <a:normAutofit/>
          </a:bodyPr>
          <a:lstStyle/>
          <a:p>
            <a:pPr algn="l" indent="0" marL="0">
              <a:lnSpc>
                <a:spcPts val="844"/>
              </a:lnSpc>
              <a:buNone/>
            </a:pPr>
            <a:r>
              <a:rPr lang="en-US" sz="800" b="1" spc="124" kern="0" dirty="0">
                <a:solidFill>
                  <a:srgbClr val="6B7A6F"/>
                </a:solidFill>
                <a:latin typeface="Carlito" pitchFamily="34" charset="0"/>
                <a:ea typeface="Carlito" pitchFamily="34" charset="-122"/>
                <a:cs typeface="Carlito" pitchFamily="34" charset="-120"/>
              </a:rPr>
              <a:t>SETUP PRINCIPLES</a:t>
            </a:r>
            <a:endParaRPr lang="en-US" sz="800" dirty="0"/>
          </a:p>
        </p:txBody>
      </p:sp>
      <p:sp>
        <p:nvSpPr>
          <p:cNvPr id="27" name="Text 25"/>
          <p:cNvSpPr/>
          <p:nvPr/>
        </p:nvSpPr>
        <p:spPr>
          <a:xfrm>
            <a:off x="400050" y="4651403"/>
            <a:ext cx="1210084" cy="218027"/>
          </a:xfrm>
          <a:prstGeom prst="roundRect">
            <a:avLst>
              <a:gd name="adj" fmla="val 4364356"/>
            </a:avLst>
          </a:prstGeom>
          <a:solidFill>
            <a:srgbClr val="E4EFE6"/>
          </a:solidFill>
          <a:ln/>
        </p:spPr>
        <p:txBody>
          <a:bodyPr wrap="square" rtlCol="0" anchor="ctr"/>
          <a:lstStyle/>
          <a:p>
            <a:pPr indent="0" marL="0">
              <a:buNone/>
            </a:pPr>
            <a:endParaRPr lang="en-US" dirty="0"/>
          </a:p>
        </p:txBody>
      </p:sp>
      <p:sp>
        <p:nvSpPr>
          <p:cNvPr id="28" name="Text 26"/>
          <p:cNvSpPr/>
          <p:nvPr/>
        </p:nvSpPr>
        <p:spPr>
          <a:xfrm>
            <a:off x="642938" y="4713089"/>
            <a:ext cx="995772" cy="114499"/>
          </a:xfrm>
          <a:prstGeom prst="rect">
            <a:avLst/>
          </a:prstGeom>
          <a:noFill/>
          <a:ln/>
        </p:spPr>
        <p:txBody>
          <a:bodyPr wrap="none" lIns="0" tIns="0" rIns="0" bIns="0" rtlCol="0" anchor="t"/>
          <a:lstStyle/>
          <a:p>
            <a:pPr algn="l" indent="0" marL="0">
              <a:lnSpc>
                <a:spcPts val="970"/>
              </a:lnSpc>
              <a:buNone/>
            </a:pPr>
            <a:r>
              <a:rPr lang="en-US" sz="647" dirty="0">
                <a:solidFill>
                  <a:srgbClr val="1E4D3B"/>
                </a:solidFill>
                <a:latin typeface="Carlito" pitchFamily="34" charset="0"/>
                <a:ea typeface="Carlito" pitchFamily="34" charset="-122"/>
                <a:cs typeface="Carlito" pitchFamily="34" charset="-120"/>
              </a:rPr>
              <a:t>Fixed &amp; high-mounted</a:t>
            </a:r>
            <a:endParaRPr lang="en-US" sz="647" dirty="0"/>
          </a:p>
        </p:txBody>
      </p:sp>
      <p:sp>
        <p:nvSpPr>
          <p:cNvPr id="29" name="Text 27"/>
          <p:cNvSpPr/>
          <p:nvPr/>
        </p:nvSpPr>
        <p:spPr>
          <a:xfrm>
            <a:off x="500063" y="4710410"/>
            <a:ext cx="100013" cy="100013"/>
          </a:xfrm>
          <a:prstGeom prst="rect">
            <a:avLst/>
          </a:prstGeom>
          <a:noFill/>
          <a:ln/>
        </p:spPr>
        <p:txBody>
          <a:bodyPr wrap="none" lIns="0" tIns="0" rIns="0" bIns="0" rtlCol="0" anchor="ctr"/>
          <a:lstStyle/>
          <a:p>
            <a:pPr algn="ctr" indent="0" marL="0">
              <a:buNone/>
            </a:pPr>
            <a:r>
              <a:rPr lang="en-US" sz="984" dirty="0">
                <a:solidFill>
                  <a:srgbClr val="8F6E12"/>
                </a:solidFill>
                <a:latin typeface="Segoe UI Symbol" pitchFamily="34" charset="0"/>
                <a:ea typeface="Segoe UI Symbol" pitchFamily="34" charset="-122"/>
                <a:cs typeface="Segoe UI Symbol" pitchFamily="34" charset="-120"/>
              </a:rPr>
              <a:t>✓</a:t>
            </a:r>
            <a:endParaRPr lang="en-US" sz="984" dirty="0"/>
          </a:p>
        </p:txBody>
      </p:sp>
      <p:sp>
        <p:nvSpPr>
          <p:cNvPr id="30" name="Text 28"/>
          <p:cNvSpPr/>
          <p:nvPr/>
        </p:nvSpPr>
        <p:spPr>
          <a:xfrm>
            <a:off x="1667284" y="4663083"/>
            <a:ext cx="1402184" cy="194667"/>
          </a:xfrm>
          <a:prstGeom prst="roundRect">
            <a:avLst>
              <a:gd name="adj" fmla="val 4888078"/>
            </a:avLst>
          </a:prstGeom>
          <a:solidFill>
            <a:srgbClr val="E4EFE6"/>
          </a:solidFill>
          <a:ln/>
        </p:spPr>
        <p:txBody>
          <a:bodyPr wrap="square" rtlCol="0" anchor="ctr"/>
          <a:lstStyle/>
          <a:p>
            <a:pPr indent="0" marL="0">
              <a:buNone/>
            </a:pPr>
            <a:endParaRPr lang="en-US" dirty="0"/>
          </a:p>
        </p:txBody>
      </p:sp>
      <p:sp>
        <p:nvSpPr>
          <p:cNvPr id="31" name="Text 29"/>
          <p:cNvSpPr/>
          <p:nvPr/>
        </p:nvSpPr>
        <p:spPr>
          <a:xfrm>
            <a:off x="1910172" y="4713089"/>
            <a:ext cx="1187872" cy="114499"/>
          </a:xfrm>
          <a:prstGeom prst="rect">
            <a:avLst/>
          </a:prstGeom>
          <a:noFill/>
          <a:ln/>
        </p:spPr>
        <p:txBody>
          <a:bodyPr wrap="none" lIns="100013" tIns="35719" rIns="100013" bIns="35719" rtlCol="0" anchor="t"/>
          <a:lstStyle/>
          <a:p>
            <a:pPr algn="l" indent="0" marL="0">
              <a:lnSpc>
                <a:spcPts val="970"/>
              </a:lnSpc>
              <a:buNone/>
            </a:pPr>
            <a:r>
              <a:rPr lang="en-US" sz="647" dirty="0">
                <a:solidFill>
                  <a:srgbClr val="1E4D3B"/>
                </a:solidFill>
                <a:latin typeface="Carlito" pitchFamily="34" charset="0"/>
                <a:ea typeface="Carlito" pitchFamily="34" charset="-122"/>
                <a:cs typeface="Carlito" pitchFamily="34" charset="-120"/>
              </a:rPr>
              <a:t>Local processing preferred</a:t>
            </a:r>
            <a:endParaRPr lang="en-US" sz="647" dirty="0"/>
          </a:p>
        </p:txBody>
      </p:sp>
      <p:sp>
        <p:nvSpPr>
          <p:cNvPr id="32" name="Text 30"/>
          <p:cNvSpPr/>
          <p:nvPr/>
        </p:nvSpPr>
        <p:spPr>
          <a:xfrm>
            <a:off x="1767297" y="4710410"/>
            <a:ext cx="100013" cy="100013"/>
          </a:xfrm>
          <a:prstGeom prst="rect">
            <a:avLst/>
          </a:prstGeom>
          <a:noFill/>
          <a:ln/>
        </p:spPr>
        <p:txBody>
          <a:bodyPr wrap="none" lIns="0" tIns="0" rIns="0" bIns="0" rtlCol="0" anchor="ctr"/>
          <a:lstStyle/>
          <a:p>
            <a:pPr algn="ctr" indent="0" marL="0">
              <a:buNone/>
            </a:pPr>
            <a:r>
              <a:rPr lang="en-US" sz="984" dirty="0">
                <a:solidFill>
                  <a:srgbClr val="8F6E12"/>
                </a:solidFill>
                <a:latin typeface="Segoe UI Symbol" pitchFamily="34" charset="0"/>
                <a:ea typeface="Segoe UI Symbol" pitchFamily="34" charset="-122"/>
                <a:cs typeface="Segoe UI Symbol" pitchFamily="34" charset="-120"/>
              </a:rPr>
              <a:t>✓</a:t>
            </a:r>
            <a:endParaRPr lang="en-US" sz="984" dirty="0"/>
          </a:p>
        </p:txBody>
      </p:sp>
      <p:sp>
        <p:nvSpPr>
          <p:cNvPr id="33" name="Text 31"/>
          <p:cNvSpPr/>
          <p:nvPr/>
        </p:nvSpPr>
        <p:spPr>
          <a:xfrm>
            <a:off x="3126618" y="4663083"/>
            <a:ext cx="1219349" cy="194667"/>
          </a:xfrm>
          <a:prstGeom prst="roundRect">
            <a:avLst>
              <a:gd name="adj" fmla="val 4888078"/>
            </a:avLst>
          </a:prstGeom>
          <a:solidFill>
            <a:srgbClr val="E4EFE6"/>
          </a:solidFill>
          <a:ln/>
        </p:spPr>
        <p:txBody>
          <a:bodyPr wrap="square" rtlCol="0" anchor="ctr"/>
          <a:lstStyle/>
          <a:p>
            <a:pPr indent="0" marL="0">
              <a:buNone/>
            </a:pPr>
            <a:endParaRPr lang="en-US" dirty="0"/>
          </a:p>
        </p:txBody>
      </p:sp>
      <p:sp>
        <p:nvSpPr>
          <p:cNvPr id="34" name="Text 32"/>
          <p:cNvSpPr/>
          <p:nvPr/>
        </p:nvSpPr>
        <p:spPr>
          <a:xfrm>
            <a:off x="3369506" y="4713089"/>
            <a:ext cx="1005036" cy="114499"/>
          </a:xfrm>
          <a:prstGeom prst="rect">
            <a:avLst/>
          </a:prstGeom>
          <a:noFill/>
          <a:ln/>
        </p:spPr>
        <p:txBody>
          <a:bodyPr wrap="none" lIns="0" tIns="0" rIns="0" bIns="0" rtlCol="0" anchor="t"/>
          <a:lstStyle/>
          <a:p>
            <a:pPr algn="l" indent="0" marL="0">
              <a:lnSpc>
                <a:spcPts val="970"/>
              </a:lnSpc>
              <a:buNone/>
            </a:pPr>
            <a:r>
              <a:rPr lang="en-US" sz="647" dirty="0">
                <a:solidFill>
                  <a:srgbClr val="1E4D3B"/>
                </a:solidFill>
                <a:latin typeface="Carlito" pitchFamily="34" charset="0"/>
                <a:ea typeface="Carlito" pitchFamily="34" charset="-122"/>
                <a:cs typeface="Carlito" pitchFamily="34" charset="-120"/>
              </a:rPr>
              <a:t>No facial identification</a:t>
            </a:r>
            <a:endParaRPr lang="en-US" sz="647" dirty="0"/>
          </a:p>
        </p:txBody>
      </p:sp>
      <p:sp>
        <p:nvSpPr>
          <p:cNvPr id="35" name="Text 33"/>
          <p:cNvSpPr/>
          <p:nvPr/>
        </p:nvSpPr>
        <p:spPr>
          <a:xfrm>
            <a:off x="3226631" y="4710410"/>
            <a:ext cx="100013" cy="100013"/>
          </a:xfrm>
          <a:prstGeom prst="rect">
            <a:avLst/>
          </a:prstGeom>
          <a:noFill/>
          <a:ln/>
        </p:spPr>
        <p:txBody>
          <a:bodyPr wrap="none" lIns="0" tIns="0" rIns="0" bIns="0" rtlCol="0" anchor="ctr"/>
          <a:lstStyle/>
          <a:p>
            <a:pPr algn="ctr" indent="0" marL="0">
              <a:buNone/>
            </a:pPr>
            <a:r>
              <a:rPr lang="en-US" sz="984" dirty="0">
                <a:solidFill>
                  <a:srgbClr val="8F6E12"/>
                </a:solidFill>
                <a:latin typeface="Segoe UI Symbol" pitchFamily="34" charset="0"/>
                <a:ea typeface="Segoe UI Symbol" pitchFamily="34" charset="-122"/>
                <a:cs typeface="Segoe UI Symbol" pitchFamily="34" charset="-120"/>
              </a:rPr>
              <a:t>✓</a:t>
            </a:r>
            <a:endParaRPr lang="en-US" sz="984" dirty="0"/>
          </a:p>
        </p:txBody>
      </p:sp>
      <p:sp>
        <p:nvSpPr>
          <p:cNvPr id="36" name="Text 34"/>
          <p:cNvSpPr/>
          <p:nvPr/>
        </p:nvSpPr>
        <p:spPr>
          <a:xfrm>
            <a:off x="4403117" y="4651403"/>
            <a:ext cx="1260537" cy="218027"/>
          </a:xfrm>
          <a:prstGeom prst="roundRect">
            <a:avLst>
              <a:gd name="adj" fmla="val 4364356"/>
            </a:avLst>
          </a:prstGeom>
          <a:solidFill>
            <a:srgbClr val="E4EFE6"/>
          </a:solidFill>
          <a:ln/>
        </p:spPr>
        <p:txBody>
          <a:bodyPr wrap="square" rtlCol="0" anchor="ctr"/>
          <a:lstStyle/>
          <a:p>
            <a:pPr indent="0" marL="0">
              <a:buNone/>
            </a:pPr>
            <a:endParaRPr lang="en-US" dirty="0"/>
          </a:p>
        </p:txBody>
      </p:sp>
      <p:sp>
        <p:nvSpPr>
          <p:cNvPr id="37" name="Text 35"/>
          <p:cNvSpPr/>
          <p:nvPr/>
        </p:nvSpPr>
        <p:spPr>
          <a:xfrm>
            <a:off x="4646005" y="4713089"/>
            <a:ext cx="1040420" cy="114499"/>
          </a:xfrm>
          <a:prstGeom prst="rect">
            <a:avLst/>
          </a:prstGeom>
          <a:noFill/>
          <a:ln/>
        </p:spPr>
        <p:txBody>
          <a:bodyPr wrap="none" lIns="0" tIns="0" rIns="0" bIns="0" rtlCol="0" anchor="t"/>
          <a:lstStyle/>
          <a:p>
            <a:pPr algn="l" indent="0" marL="0">
              <a:lnSpc>
                <a:spcPts val="970"/>
              </a:lnSpc>
              <a:buNone/>
            </a:pPr>
            <a:r>
              <a:rPr lang="en-US" sz="647" dirty="0">
                <a:solidFill>
                  <a:srgbClr val="1E4D3B"/>
                </a:solidFill>
                <a:latin typeface="Carlito" pitchFamily="34" charset="0"/>
                <a:ea typeface="Carlito" pitchFamily="34" charset="-122"/>
                <a:cs typeface="Carlito" pitchFamily="34" charset="-120"/>
              </a:rPr>
              <a:t>Defined risk zones only</a:t>
            </a:r>
            <a:endParaRPr lang="en-US" sz="647" dirty="0"/>
          </a:p>
        </p:txBody>
      </p:sp>
      <p:sp>
        <p:nvSpPr>
          <p:cNvPr id="38" name="Text 36"/>
          <p:cNvSpPr/>
          <p:nvPr/>
        </p:nvSpPr>
        <p:spPr>
          <a:xfrm>
            <a:off x="4503130" y="4710410"/>
            <a:ext cx="100013" cy="100013"/>
          </a:xfrm>
          <a:prstGeom prst="rect">
            <a:avLst/>
          </a:prstGeom>
          <a:noFill/>
          <a:ln/>
        </p:spPr>
        <p:txBody>
          <a:bodyPr wrap="none" lIns="0" tIns="0" rIns="0" bIns="0" rtlCol="0" anchor="ctr"/>
          <a:lstStyle/>
          <a:p>
            <a:pPr algn="ctr" indent="0" marL="0">
              <a:buNone/>
            </a:pPr>
            <a:r>
              <a:rPr lang="en-US" sz="984" dirty="0">
                <a:solidFill>
                  <a:srgbClr val="8F6E12"/>
                </a:solidFill>
                <a:latin typeface="Segoe UI Symbol" pitchFamily="34" charset="0"/>
                <a:ea typeface="Segoe UI Symbol" pitchFamily="34" charset="-122"/>
                <a:cs typeface="Segoe UI Symbol" pitchFamily="34" charset="-120"/>
              </a:rPr>
              <a:t>✓</a:t>
            </a:r>
            <a:endParaRPr lang="en-US" sz="984" dirty="0"/>
          </a:p>
        </p:txBody>
      </p:sp>
      <p:sp>
        <p:nvSpPr>
          <p:cNvPr id="39" name="Text 37"/>
          <p:cNvSpPr/>
          <p:nvPr/>
        </p:nvSpPr>
        <p:spPr>
          <a:xfrm>
            <a:off x="5890022" y="1349387"/>
            <a:ext cx="2850356" cy="3504791"/>
          </a:xfrm>
          <a:prstGeom prst="roundRect">
            <a:avLst>
              <a:gd name="adj" fmla="val 4678"/>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pic>
        <p:nvPicPr>
          <p:cNvPr id="40" name="Image 0" descr="/tmp/h2p-fit-1792648421983-hz6p19.png">    </p:cNvPr>
          <p:cNvPicPr>
            <a:picLocks noChangeAspect="1"/>
          </p:cNvPicPr>
          <p:nvPr/>
        </p:nvPicPr>
        <p:blipFill>
          <a:blip r:embed="rId1"/>
          <a:stretch>
            <a:fillRect/>
          </a:stretch>
        </p:blipFill>
        <p:spPr>
          <a:xfrm>
            <a:off x="5893594" y="1352959"/>
            <a:ext cx="2843213" cy="3019016"/>
          </a:xfrm>
          <a:prstGeom prst="rect">
            <a:avLst/>
          </a:prstGeom>
        </p:spPr>
      </p:pic>
      <p:sp>
        <p:nvSpPr>
          <p:cNvPr id="41" name="Text 38"/>
          <p:cNvSpPr/>
          <p:nvPr/>
        </p:nvSpPr>
        <p:spPr>
          <a:xfrm>
            <a:off x="5893594" y="4371975"/>
            <a:ext cx="2843213" cy="478631"/>
          </a:xfrm>
          <a:prstGeom prst="rect">
            <a:avLst/>
          </a:prstGeom>
          <a:solidFill>
            <a:srgbClr val="FFFFFF"/>
          </a:solidFill>
          <a:ln/>
        </p:spPr>
        <p:txBody>
          <a:bodyPr wrap="square" rtlCol="0" anchor="ctr"/>
          <a:lstStyle/>
          <a:p>
            <a:pPr indent="0" marL="0">
              <a:buNone/>
            </a:pPr>
            <a:endParaRPr lang="en-US" dirty="0"/>
          </a:p>
        </p:txBody>
      </p:sp>
      <p:sp>
        <p:nvSpPr>
          <p:cNvPr id="42" name="Text 39"/>
          <p:cNvSpPr/>
          <p:nvPr/>
        </p:nvSpPr>
        <p:spPr>
          <a:xfrm>
            <a:off x="6022181" y="4471988"/>
            <a:ext cx="121444" cy="121444"/>
          </a:xfrm>
          <a:prstGeom prst="rect">
            <a:avLst/>
          </a:prstGeom>
          <a:noFill/>
          <a:ln/>
        </p:spPr>
        <p:txBody>
          <a:bodyPr wrap="none" lIns="0" tIns="0" rIns="0" bIns="0" rtlCol="0" anchor="ctr"/>
          <a:lstStyle/>
          <a:p>
            <a:pPr algn="ctr" indent="0" marL="0">
              <a:buNone/>
            </a:pPr>
            <a:r>
              <a:rPr lang="en-US" sz="1195" dirty="0">
                <a:solidFill>
                  <a:srgbClr val="8F6E12"/>
                </a:solidFill>
                <a:latin typeface="Segoe UI Symbol" pitchFamily="34" charset="0"/>
                <a:ea typeface="Segoe UI Symbol" pitchFamily="34" charset="-122"/>
                <a:cs typeface="Segoe UI Symbol" pitchFamily="34" charset="-120"/>
              </a:rPr>
              <a:t>▶</a:t>
            </a:r>
            <a:endParaRPr lang="en-US" sz="1195" dirty="0"/>
          </a:p>
        </p:txBody>
      </p:sp>
      <p:sp>
        <p:nvSpPr>
          <p:cNvPr id="43" name="Text 40"/>
          <p:cNvSpPr/>
          <p:nvPr/>
        </p:nvSpPr>
        <p:spPr>
          <a:xfrm>
            <a:off x="6207919" y="4471988"/>
            <a:ext cx="2400300" cy="278606"/>
          </a:xfrm>
          <a:prstGeom prst="rect">
            <a:avLst/>
          </a:prstGeom>
          <a:noFill/>
          <a:ln/>
        </p:spPr>
        <p:txBody>
          <a:bodyPr wrap="square" lIns="0" tIns="0" rIns="0" bIns="0" rtlCol="0" anchor="t"/>
          <a:lstStyle/>
          <a:p>
            <a:pPr algn="l" indent="0" marL="0">
              <a:lnSpc>
                <a:spcPts val="1097"/>
              </a:lnSpc>
              <a:buNone/>
            </a:pPr>
            <a:r>
              <a:rPr lang="en-US" sz="800" i="1" dirty="0">
                <a:solidFill>
                  <a:srgbClr val="33463C"/>
                </a:solidFill>
                <a:latin typeface="Carlito" pitchFamily="34" charset="0"/>
                <a:ea typeface="Carlito" pitchFamily="34" charset="-122"/>
                <a:cs typeface="Carlito" pitchFamily="34" charset="-120"/>
              </a:rPr>
              <a:t>Fixed, high-mounted, out of reach — watching the risk zone, not the child's face.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00050" y="285750"/>
            <a:ext cx="8636000" cy="301618"/>
          </a:xfrm>
          <a:prstGeom prst="rect">
            <a:avLst/>
          </a:prstGeom>
          <a:noFill/>
          <a:ln/>
        </p:spPr>
        <p:txBody>
          <a:bodyPr wrap="square" lIns="0" tIns="0" rIns="0" bIns="0" rtlCol="0" anchor="t"/>
          <a:lstStyle/>
          <a:p>
            <a:pPr algn="l" indent="0" marL="0">
              <a:lnSpc>
                <a:spcPts val="2199"/>
              </a:lnSpc>
              <a:buNone/>
            </a:pPr>
            <a:r>
              <a:rPr lang="en-US" sz="1913" b="1" dirty="0">
                <a:solidFill>
                  <a:srgbClr val="1E4D3B"/>
                </a:solidFill>
                <a:latin typeface="Carlito" pitchFamily="34" charset="0"/>
                <a:ea typeface="Carlito" pitchFamily="34" charset="-122"/>
                <a:cs typeface="Carlito" pitchFamily="34" charset="-120"/>
              </a:rPr>
              <a:t>Our Use Case — From Hazard to Resolution</a:t>
            </a:r>
            <a:endParaRPr lang="en-US" sz="1913" dirty="0"/>
          </a:p>
        </p:txBody>
      </p:sp>
      <p:sp>
        <p:nvSpPr>
          <p:cNvPr id="3" name="Text 1"/>
          <p:cNvSpPr/>
          <p:nvPr/>
        </p:nvSpPr>
        <p:spPr>
          <a:xfrm>
            <a:off x="400050" y="629320"/>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4" name="Text 2"/>
          <p:cNvSpPr/>
          <p:nvPr/>
        </p:nvSpPr>
        <p:spPr>
          <a:xfrm>
            <a:off x="400050" y="736476"/>
            <a:ext cx="8343900" cy="167807"/>
          </a:xfrm>
          <a:prstGeom prst="rect">
            <a:avLst/>
          </a:prstGeom>
          <a:noFill/>
          <a:ln/>
        </p:spPr>
        <p:txBody>
          <a:bodyPr wrap="square" lIns="0" tIns="0" rIns="0" bIns="0" rtlCol="0" anchor="t"/>
          <a:lstStyle/>
          <a:p>
            <a:pPr algn="l" indent="0" marL="0">
              <a:lnSpc>
                <a:spcPts val="1223"/>
              </a:lnSpc>
              <a:buNone/>
            </a:pPr>
            <a:r>
              <a:rPr lang="en-US" sz="816" dirty="0">
                <a:solidFill>
                  <a:srgbClr val="33463C"/>
                </a:solidFill>
                <a:latin typeface="Carlito" pitchFamily="34" charset="0"/>
                <a:ea typeface="Carlito" pitchFamily="34" charset="-122"/>
                <a:cs typeface="Carlito" pitchFamily="34" charset="-120"/>
              </a:rPr>
              <a:t>One agent, two very different jobs — because a child near a balcony door and a cracked switch must never be handled the same way.</a:t>
            </a:r>
            <a:endParaRPr lang="en-US" sz="816" dirty="0"/>
          </a:p>
        </p:txBody>
      </p:sp>
      <p:sp>
        <p:nvSpPr>
          <p:cNvPr id="5" name="Text 3"/>
          <p:cNvSpPr/>
          <p:nvPr/>
        </p:nvSpPr>
        <p:spPr>
          <a:xfrm>
            <a:off x="400050" y="1006153"/>
            <a:ext cx="3257550" cy="3281883"/>
          </a:xfrm>
          <a:prstGeom prst="roundRect">
            <a:avLst>
              <a:gd name="adj" fmla="val 4094"/>
            </a:avLst>
          </a:prstGeom>
          <a:solidFill>
            <a:srgbClr val="1E4D3B"/>
          </a:solidFill>
          <a:ln/>
        </p:spPr>
        <p:txBody>
          <a:bodyPr wrap="square" rtlCol="0" anchor="ctr"/>
          <a:lstStyle/>
          <a:p>
            <a:pPr indent="0" marL="0">
              <a:buNone/>
            </a:pPr>
            <a:endParaRPr lang="en-US" dirty="0"/>
          </a:p>
        </p:txBody>
      </p:sp>
      <p:sp>
        <p:nvSpPr>
          <p:cNvPr id="6" name="Text 4"/>
          <p:cNvSpPr/>
          <p:nvPr/>
        </p:nvSpPr>
        <p:spPr>
          <a:xfrm>
            <a:off x="557213" y="1149028"/>
            <a:ext cx="3052953" cy="185166"/>
          </a:xfrm>
          <a:prstGeom prst="rect">
            <a:avLst/>
          </a:prstGeom>
          <a:noFill/>
          <a:ln/>
        </p:spPr>
        <p:txBody>
          <a:bodyPr wrap="square" lIns="0" tIns="0" rIns="0" bIns="0" rtlCol="0" anchor="t"/>
          <a:lstStyle/>
          <a:p>
            <a:pPr algn="l" indent="0" marL="0">
              <a:lnSpc>
                <a:spcPts val="1350"/>
              </a:lnSpc>
              <a:buNone/>
            </a:pPr>
            <a:r>
              <a:rPr lang="en-US" sz="900" b="1" dirty="0">
                <a:solidFill>
                  <a:srgbClr val="E8B931"/>
                </a:solidFill>
                <a:latin typeface="Carlito" pitchFamily="34" charset="0"/>
                <a:ea typeface="Carlito" pitchFamily="34" charset="-122"/>
                <a:cs typeface="Carlito" pitchFamily="34" charset="-120"/>
              </a:rPr>
              <a:t>PATH A</a:t>
            </a:r>
            <a:pPr algn="l" indent="0" marL="0">
              <a:lnSpc>
                <a:spcPts val="1350"/>
              </a:lnSpc>
              <a:buNone/>
            </a:pPr>
            <a:r>
              <a:rPr lang="en-US" sz="900" b="1" dirty="0">
                <a:solidFill>
                  <a:srgbClr val="FBF9F4"/>
                </a:solidFill>
                <a:latin typeface="Carlito" pitchFamily="34" charset="0"/>
                <a:ea typeface="Carlito" pitchFamily="34" charset="-122"/>
                <a:cs typeface="Carlito" pitchFamily="34" charset="-120"/>
              </a:rPr>
              <a:t> </a:t>
            </a:r>
            <a:pPr algn="l" indent="0" marL="0">
              <a:lnSpc>
                <a:spcPts val="1350"/>
              </a:lnSpc>
              <a:buNone/>
            </a:pPr>
            <a:r>
              <a:rPr lang="en-US" sz="900" b="1" dirty="0">
                <a:solidFill>
                  <a:srgbClr val="FBF9F4">
                    <a:alpha val="55000"/>
                  </a:srgbClr>
                </a:solidFill>
                <a:latin typeface="Carlito" pitchFamily="34" charset="0"/>
                <a:ea typeface="Carlito" pitchFamily="34" charset="-122"/>
                <a:cs typeface="Carlito" pitchFamily="34" charset="-120"/>
              </a:rPr>
              <a:t>·</a:t>
            </a:r>
            <a:pPr algn="l" indent="0" marL="0">
              <a:lnSpc>
                <a:spcPts val="1350"/>
              </a:lnSpc>
              <a:buNone/>
            </a:pPr>
            <a:r>
              <a:rPr lang="en-US" sz="900" b="1" dirty="0">
                <a:solidFill>
                  <a:srgbClr val="FBF9F4"/>
                </a:solidFill>
                <a:latin typeface="Carlito" pitchFamily="34" charset="0"/>
                <a:ea typeface="Carlito" pitchFamily="34" charset="-122"/>
                <a:cs typeface="Carlito" pitchFamily="34" charset="-120"/>
              </a:rPr>
              <a:t> Immediate child-safety events</a:t>
            </a:r>
            <a:endParaRPr lang="en-US" sz="900" dirty="0"/>
          </a:p>
        </p:txBody>
      </p:sp>
      <p:sp>
        <p:nvSpPr>
          <p:cNvPr id="7" name="Text 5"/>
          <p:cNvSpPr/>
          <p:nvPr/>
        </p:nvSpPr>
        <p:spPr>
          <a:xfrm>
            <a:off x="557213" y="1718965"/>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8" name="Text 6"/>
          <p:cNvSpPr/>
          <p:nvPr/>
        </p:nvSpPr>
        <p:spPr>
          <a:xfrm>
            <a:off x="557213" y="1718965"/>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1</a:t>
            </a:r>
            <a:endParaRPr lang="en-US" sz="800" dirty="0"/>
          </a:p>
        </p:txBody>
      </p:sp>
      <p:sp>
        <p:nvSpPr>
          <p:cNvPr id="9" name="Text 7"/>
          <p:cNvSpPr/>
          <p:nvPr/>
        </p:nvSpPr>
        <p:spPr>
          <a:xfrm>
            <a:off x="835819" y="1718965"/>
            <a:ext cx="2664619" cy="190927"/>
          </a:xfrm>
          <a:prstGeom prst="rect">
            <a:avLst/>
          </a:prstGeom>
          <a:noFill/>
          <a:ln/>
        </p:spPr>
        <p:txBody>
          <a:bodyPr wrap="square" lIns="0" tIns="21431" rIns="0" bIns="0" rtlCol="0" anchor="t"/>
          <a:lstStyle/>
          <a:p>
            <a:pPr algn="l" indent="0" marL="0">
              <a:lnSpc>
                <a:spcPts val="1055"/>
              </a:lnSpc>
              <a:buNone/>
            </a:pPr>
            <a:r>
              <a:rPr lang="en-US" sz="800" b="1" dirty="0">
                <a:solidFill>
                  <a:srgbClr val="FBF9F4">
                    <a:alpha val="88000"/>
                  </a:srgbClr>
                </a:solidFill>
                <a:latin typeface="Carlito" pitchFamily="34" charset="0"/>
                <a:ea typeface="Carlito" pitchFamily="34" charset="-122"/>
                <a:cs typeface="Carlito" pitchFamily="34" charset="-120"/>
              </a:rPr>
              <a:t>Observe</a:t>
            </a:r>
            <a:pPr algn="l" indent="0" marL="0">
              <a:lnSpc>
                <a:spcPts val="1055"/>
              </a:lnSpc>
              <a:buNone/>
            </a:pPr>
            <a:r>
              <a:rPr lang="en-US" sz="800" dirty="0">
                <a:solidFill>
                  <a:srgbClr val="FBF9F4">
                    <a:alpha val="88000"/>
                  </a:srgbClr>
                </a:solidFill>
                <a:latin typeface="Carlito" pitchFamily="34" charset="0"/>
                <a:ea typeface="Carlito" pitchFamily="34" charset="-122"/>
                <a:cs typeface="Carlito" pitchFamily="34" charset="-120"/>
              </a:rPr>
              <a:t> — fixed cameras watch defined risk zones</a:t>
            </a:r>
            <a:endParaRPr lang="en-US" sz="800" dirty="0"/>
          </a:p>
        </p:txBody>
      </p:sp>
      <p:sp>
        <p:nvSpPr>
          <p:cNvPr id="10" name="Text 8"/>
          <p:cNvSpPr/>
          <p:nvPr/>
        </p:nvSpPr>
        <p:spPr>
          <a:xfrm>
            <a:off x="557213" y="2253183"/>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11" name="Text 9"/>
          <p:cNvSpPr/>
          <p:nvPr/>
        </p:nvSpPr>
        <p:spPr>
          <a:xfrm>
            <a:off x="557213" y="2253183"/>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2</a:t>
            </a:r>
            <a:endParaRPr lang="en-US" sz="800" dirty="0"/>
          </a:p>
        </p:txBody>
      </p:sp>
      <p:sp>
        <p:nvSpPr>
          <p:cNvPr id="12" name="Text 10"/>
          <p:cNvSpPr/>
          <p:nvPr/>
        </p:nvSpPr>
        <p:spPr>
          <a:xfrm>
            <a:off x="835819" y="2253183"/>
            <a:ext cx="2664619" cy="355519"/>
          </a:xfrm>
          <a:prstGeom prst="rect">
            <a:avLst/>
          </a:prstGeom>
          <a:noFill/>
          <a:ln/>
        </p:spPr>
        <p:txBody>
          <a:bodyPr wrap="square" lIns="0" tIns="21431" rIns="0" bIns="0" rtlCol="0" anchor="t"/>
          <a:lstStyle/>
          <a:p>
            <a:pPr algn="l" indent="0" marL="0">
              <a:lnSpc>
                <a:spcPts val="1055"/>
              </a:lnSpc>
              <a:buNone/>
            </a:pPr>
            <a:r>
              <a:rPr lang="en-US" sz="800" b="1" dirty="0">
                <a:solidFill>
                  <a:srgbClr val="FBF9F4">
                    <a:alpha val="88000"/>
                  </a:srgbClr>
                </a:solidFill>
                <a:latin typeface="Carlito" pitchFamily="34" charset="0"/>
                <a:ea typeface="Carlito" pitchFamily="34" charset="-122"/>
                <a:cs typeface="Carlito" pitchFamily="34" charset="-120"/>
              </a:rPr>
              <a:t>Detect</a:t>
            </a:r>
            <a:pPr algn="l" indent="0" marL="0">
              <a:lnSpc>
                <a:spcPts val="1055"/>
              </a:lnSpc>
              <a:buNone/>
            </a:pPr>
            <a:r>
              <a:rPr lang="en-US" sz="800" dirty="0">
                <a:solidFill>
                  <a:srgbClr val="FBF9F4">
                    <a:alpha val="88000"/>
                  </a:srgbClr>
                </a:solidFill>
                <a:latin typeface="Carlito" pitchFamily="34" charset="0"/>
                <a:ea typeface="Carlito" pitchFamily="34" charset="-122"/>
                <a:cs typeface="Carlito" pitchFamily="34" charset="-120"/>
              </a:rPr>
              <a:t> — a child-sized person enters a zone, or a balcony door / window opens</a:t>
            </a:r>
            <a:endParaRPr lang="en-US" sz="800" dirty="0"/>
          </a:p>
        </p:txBody>
      </p:sp>
      <p:sp>
        <p:nvSpPr>
          <p:cNvPr id="13" name="Text 11"/>
          <p:cNvSpPr/>
          <p:nvPr/>
        </p:nvSpPr>
        <p:spPr>
          <a:xfrm>
            <a:off x="557213" y="2883843"/>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14" name="Text 12"/>
          <p:cNvSpPr/>
          <p:nvPr/>
        </p:nvSpPr>
        <p:spPr>
          <a:xfrm>
            <a:off x="557213" y="2883843"/>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3</a:t>
            </a:r>
            <a:endParaRPr lang="en-US" sz="800" dirty="0"/>
          </a:p>
        </p:txBody>
      </p:sp>
      <p:sp>
        <p:nvSpPr>
          <p:cNvPr id="15" name="Text 13"/>
          <p:cNvSpPr/>
          <p:nvPr/>
        </p:nvSpPr>
        <p:spPr>
          <a:xfrm>
            <a:off x="835819" y="2883843"/>
            <a:ext cx="2664619" cy="355519"/>
          </a:xfrm>
          <a:prstGeom prst="rect">
            <a:avLst/>
          </a:prstGeom>
          <a:noFill/>
          <a:ln/>
        </p:spPr>
        <p:txBody>
          <a:bodyPr wrap="square" lIns="0" tIns="21431" rIns="0" bIns="0" rtlCol="0" anchor="t"/>
          <a:lstStyle/>
          <a:p>
            <a:pPr algn="l" indent="0" marL="0">
              <a:lnSpc>
                <a:spcPts val="1055"/>
              </a:lnSpc>
              <a:buNone/>
            </a:pPr>
            <a:r>
              <a:rPr lang="en-US" sz="800" b="1" dirty="0">
                <a:solidFill>
                  <a:srgbClr val="FBF9F4">
                    <a:alpha val="88000"/>
                  </a:srgbClr>
                </a:solidFill>
                <a:latin typeface="Carlito" pitchFamily="34" charset="0"/>
                <a:ea typeface="Carlito" pitchFamily="34" charset="-122"/>
                <a:cs typeface="Carlito" pitchFamily="34" charset="-120"/>
              </a:rPr>
              <a:t>Alert</a:t>
            </a:r>
            <a:pPr algn="l" indent="0" marL="0">
              <a:lnSpc>
                <a:spcPts val="1055"/>
              </a:lnSpc>
              <a:buNone/>
            </a:pPr>
            <a:r>
              <a:rPr lang="en-US" sz="800" dirty="0">
                <a:solidFill>
                  <a:srgbClr val="FBF9F4">
                    <a:alpha val="88000"/>
                  </a:srgbClr>
                </a:solidFill>
                <a:latin typeface="Carlito" pitchFamily="34" charset="0"/>
                <a:ea typeface="Carlito" pitchFamily="34" charset="-122"/>
                <a:cs typeface="Carlito" pitchFamily="34" charset="-120"/>
              </a:rPr>
              <a:t> — local alarm + caregiver notification fire instantly on pre-approved rules</a:t>
            </a:r>
            <a:endParaRPr lang="en-US" sz="800" dirty="0"/>
          </a:p>
        </p:txBody>
      </p:sp>
      <p:sp>
        <p:nvSpPr>
          <p:cNvPr id="16" name="Text 14"/>
          <p:cNvSpPr/>
          <p:nvPr/>
        </p:nvSpPr>
        <p:spPr>
          <a:xfrm>
            <a:off x="557213" y="3514502"/>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17" name="Text 15"/>
          <p:cNvSpPr/>
          <p:nvPr/>
        </p:nvSpPr>
        <p:spPr>
          <a:xfrm>
            <a:off x="557213" y="3514502"/>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4</a:t>
            </a:r>
            <a:endParaRPr lang="en-US" sz="800" dirty="0"/>
          </a:p>
        </p:txBody>
      </p:sp>
      <p:sp>
        <p:nvSpPr>
          <p:cNvPr id="18" name="Text 16"/>
          <p:cNvSpPr/>
          <p:nvPr/>
        </p:nvSpPr>
        <p:spPr>
          <a:xfrm>
            <a:off x="835819" y="3514502"/>
            <a:ext cx="2664619" cy="355519"/>
          </a:xfrm>
          <a:prstGeom prst="rect">
            <a:avLst/>
          </a:prstGeom>
          <a:noFill/>
          <a:ln/>
        </p:spPr>
        <p:txBody>
          <a:bodyPr wrap="square" lIns="0" tIns="21431" rIns="0" bIns="0" rtlCol="0" anchor="t"/>
          <a:lstStyle/>
          <a:p>
            <a:pPr algn="l" indent="0" marL="0">
              <a:lnSpc>
                <a:spcPts val="1055"/>
              </a:lnSpc>
              <a:buNone/>
            </a:pPr>
            <a:r>
              <a:rPr lang="en-US" sz="800" b="1" dirty="0">
                <a:solidFill>
                  <a:srgbClr val="FBF9F4">
                    <a:alpha val="88000"/>
                  </a:srgbClr>
                </a:solidFill>
                <a:latin typeface="Carlito" pitchFamily="34" charset="0"/>
                <a:ea typeface="Carlito" pitchFamily="34" charset="-122"/>
                <a:cs typeface="Carlito" pitchFamily="34" charset="-120"/>
              </a:rPr>
              <a:t>Escalate</a:t>
            </a:r>
            <a:pPr algn="l" indent="0" marL="0">
              <a:lnSpc>
                <a:spcPts val="1055"/>
              </a:lnSpc>
              <a:buNone/>
            </a:pPr>
            <a:r>
              <a:rPr lang="en-US" sz="800" dirty="0">
                <a:solidFill>
                  <a:srgbClr val="FBF9F4">
                    <a:alpha val="88000"/>
                  </a:srgbClr>
                </a:solidFill>
                <a:latin typeface="Carlito" pitchFamily="34" charset="0"/>
                <a:ea typeface="Carlito" pitchFamily="34" charset="-122"/>
                <a:cs typeface="Carlito" pitchFamily="34" charset="-120"/>
              </a:rPr>
              <a:t> — if nobody acknowledges, the emergency plan escalates at once</a:t>
            </a:r>
            <a:endParaRPr lang="en-US" sz="800" dirty="0"/>
          </a:p>
        </p:txBody>
      </p:sp>
      <p:sp>
        <p:nvSpPr>
          <p:cNvPr id="19" name="Text 17"/>
          <p:cNvSpPr/>
          <p:nvPr/>
        </p:nvSpPr>
        <p:spPr>
          <a:xfrm>
            <a:off x="3804047" y="1009724"/>
            <a:ext cx="3264694" cy="3274740"/>
          </a:xfrm>
          <a:prstGeom prst="roundRect">
            <a:avLst>
              <a:gd name="adj" fmla="val 4085"/>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0" name="Text 18"/>
          <p:cNvSpPr/>
          <p:nvPr/>
        </p:nvSpPr>
        <p:spPr>
          <a:xfrm>
            <a:off x="3964781" y="1156171"/>
            <a:ext cx="3052953" cy="185166"/>
          </a:xfrm>
          <a:prstGeom prst="rect">
            <a:avLst/>
          </a:prstGeom>
          <a:noFill/>
          <a:ln/>
        </p:spPr>
        <p:txBody>
          <a:bodyPr wrap="square" lIns="0" tIns="0" rIns="0" bIns="0" rtlCol="0" anchor="t"/>
          <a:lstStyle/>
          <a:p>
            <a:pPr algn="l" indent="0" marL="0">
              <a:lnSpc>
                <a:spcPts val="1350"/>
              </a:lnSpc>
              <a:buNone/>
            </a:pPr>
            <a:r>
              <a:rPr lang="en-US" sz="900" b="1" dirty="0">
                <a:solidFill>
                  <a:srgbClr val="8F6E12"/>
                </a:solidFill>
                <a:latin typeface="Carlito" pitchFamily="34" charset="0"/>
                <a:ea typeface="Carlito" pitchFamily="34" charset="-122"/>
                <a:cs typeface="Carlito" pitchFamily="34" charset="-120"/>
              </a:rPr>
              <a:t>PATH B</a:t>
            </a:r>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 </a:t>
            </a:r>
            <a:pPr algn="l" indent="0" marL="0">
              <a:lnSpc>
                <a:spcPts val="1350"/>
              </a:lnSpc>
              <a:buNone/>
            </a:pPr>
            <a:r>
              <a:rPr lang="en-US" sz="900" b="1" dirty="0">
                <a:solidFill>
                  <a:srgbClr val="1E4D3B">
                    <a:alpha val="45000"/>
                  </a:srgbClr>
                </a:solidFill>
                <a:latin typeface="Carlito" pitchFamily="34" charset="0"/>
                <a:ea typeface="Carlito" pitchFamily="34" charset="-122"/>
                <a:cs typeface="Carlito" pitchFamily="34" charset="-120"/>
              </a:rPr>
              <a:t>·</a:t>
            </a:r>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 Household maintenance hazards</a:t>
            </a:r>
            <a:endParaRPr lang="en-US" sz="900" dirty="0"/>
          </a:p>
        </p:txBody>
      </p:sp>
      <p:sp>
        <p:nvSpPr>
          <p:cNvPr id="21" name="Text 19"/>
          <p:cNvSpPr/>
          <p:nvPr/>
        </p:nvSpPr>
        <p:spPr>
          <a:xfrm>
            <a:off x="3964781" y="1723206"/>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22" name="Text 20"/>
          <p:cNvSpPr/>
          <p:nvPr/>
        </p:nvSpPr>
        <p:spPr>
          <a:xfrm>
            <a:off x="3964781" y="1723206"/>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1</a:t>
            </a:r>
            <a:endParaRPr lang="en-US" sz="800" dirty="0"/>
          </a:p>
        </p:txBody>
      </p:sp>
      <p:sp>
        <p:nvSpPr>
          <p:cNvPr id="23" name="Text 21"/>
          <p:cNvSpPr/>
          <p:nvPr/>
        </p:nvSpPr>
        <p:spPr>
          <a:xfrm>
            <a:off x="4243388" y="1723206"/>
            <a:ext cx="2664619" cy="355519"/>
          </a:xfrm>
          <a:prstGeom prst="rect">
            <a:avLst/>
          </a:prstGeom>
          <a:noFill/>
          <a:ln/>
        </p:spPr>
        <p:txBody>
          <a:bodyPr wrap="square" lIns="0" tIns="21431" rIns="0" bIns="0" rtlCol="0" anchor="t"/>
          <a:lstStyle/>
          <a:p>
            <a:pPr algn="l" indent="0" marL="0">
              <a:lnSpc>
                <a:spcPts val="1055"/>
              </a:lnSpc>
              <a:buNone/>
            </a:pPr>
            <a:r>
              <a:rPr lang="en-US" sz="800" b="1" dirty="0">
                <a:solidFill>
                  <a:srgbClr val="1E4D3B"/>
                </a:solidFill>
                <a:latin typeface="Carlito" pitchFamily="34" charset="0"/>
                <a:ea typeface="Carlito" pitchFamily="34" charset="-122"/>
                <a:cs typeface="Carlito" pitchFamily="34" charset="-120"/>
              </a:rPr>
              <a:t>Report</a:t>
            </a:r>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 — camera or resident flags damage (cracked switch, exposed wiring)</a:t>
            </a:r>
            <a:endParaRPr lang="en-US" sz="800" dirty="0"/>
          </a:p>
        </p:txBody>
      </p:sp>
      <p:sp>
        <p:nvSpPr>
          <p:cNvPr id="24" name="Text 22"/>
          <p:cNvSpPr/>
          <p:nvPr/>
        </p:nvSpPr>
        <p:spPr>
          <a:xfrm>
            <a:off x="3964781" y="2350963"/>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25" name="Text 23"/>
          <p:cNvSpPr/>
          <p:nvPr/>
        </p:nvSpPr>
        <p:spPr>
          <a:xfrm>
            <a:off x="3964781" y="2350963"/>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2</a:t>
            </a:r>
            <a:endParaRPr lang="en-US" sz="800" dirty="0"/>
          </a:p>
        </p:txBody>
      </p:sp>
      <p:sp>
        <p:nvSpPr>
          <p:cNvPr id="26" name="Text 24"/>
          <p:cNvSpPr/>
          <p:nvPr/>
        </p:nvSpPr>
        <p:spPr>
          <a:xfrm>
            <a:off x="4243388" y="2350963"/>
            <a:ext cx="2664619" cy="190927"/>
          </a:xfrm>
          <a:prstGeom prst="rect">
            <a:avLst/>
          </a:prstGeom>
          <a:noFill/>
          <a:ln/>
        </p:spPr>
        <p:txBody>
          <a:bodyPr wrap="square" lIns="0" tIns="21431" rIns="0" bIns="0" rtlCol="0" anchor="t"/>
          <a:lstStyle/>
          <a:p>
            <a:pPr algn="l" indent="0" marL="0">
              <a:lnSpc>
                <a:spcPts val="1055"/>
              </a:lnSpc>
              <a:buNone/>
            </a:pPr>
            <a:r>
              <a:rPr lang="en-US" sz="703" b="1" dirty="0">
                <a:solidFill>
                  <a:srgbClr val="1E4D3B"/>
                </a:solidFill>
                <a:latin typeface="Carlito" pitchFamily="34" charset="0"/>
                <a:ea typeface="Carlito" pitchFamily="34" charset="-122"/>
                <a:cs typeface="Carlito" pitchFamily="34" charset="-120"/>
              </a:rPr>
              <a:t>Classify</a:t>
            </a:r>
            <a:pPr algn="l" indent="0" marL="0">
              <a:lnSpc>
                <a:spcPts val="1055"/>
              </a:lnSpc>
              <a:buNone/>
            </a:pPr>
            <a:r>
              <a:rPr lang="en-US" sz="703" dirty="0">
                <a:solidFill>
                  <a:srgbClr val="6B7A6F"/>
                </a:solidFill>
                <a:latin typeface="Carlito" pitchFamily="34" charset="0"/>
                <a:ea typeface="Carlito" pitchFamily="34" charset="-122"/>
                <a:cs typeface="Carlito" pitchFamily="34" charset="-120"/>
              </a:rPr>
              <a:t> — logged as a potential hazard with a confidence level</a:t>
            </a:r>
            <a:endParaRPr lang="en-US" sz="703" dirty="0"/>
          </a:p>
        </p:txBody>
      </p:sp>
      <p:sp>
        <p:nvSpPr>
          <p:cNvPr id="27" name="Text 25"/>
          <p:cNvSpPr/>
          <p:nvPr/>
        </p:nvSpPr>
        <p:spPr>
          <a:xfrm>
            <a:off x="3964781" y="2882392"/>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28" name="Text 26"/>
          <p:cNvSpPr/>
          <p:nvPr/>
        </p:nvSpPr>
        <p:spPr>
          <a:xfrm>
            <a:off x="3964781" y="2882392"/>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3</a:t>
            </a:r>
            <a:endParaRPr lang="en-US" sz="800" dirty="0"/>
          </a:p>
        </p:txBody>
      </p:sp>
      <p:sp>
        <p:nvSpPr>
          <p:cNvPr id="29" name="Text 27"/>
          <p:cNvSpPr/>
          <p:nvPr/>
        </p:nvSpPr>
        <p:spPr>
          <a:xfrm>
            <a:off x="4243388" y="2882392"/>
            <a:ext cx="2664619" cy="355519"/>
          </a:xfrm>
          <a:prstGeom prst="rect">
            <a:avLst/>
          </a:prstGeom>
          <a:noFill/>
          <a:ln/>
        </p:spPr>
        <p:txBody>
          <a:bodyPr wrap="square" lIns="0" tIns="21431" rIns="0" bIns="0" rtlCol="0" anchor="t"/>
          <a:lstStyle/>
          <a:p>
            <a:pPr algn="l" indent="0" marL="0">
              <a:lnSpc>
                <a:spcPts val="1055"/>
              </a:lnSpc>
              <a:buNone/>
            </a:pPr>
            <a:r>
              <a:rPr lang="en-US" sz="800" b="1" dirty="0">
                <a:solidFill>
                  <a:srgbClr val="1E4D3B"/>
                </a:solidFill>
                <a:latin typeface="Carlito" pitchFamily="34" charset="0"/>
                <a:ea typeface="Carlito" pitchFamily="34" charset="-122"/>
                <a:cs typeface="Carlito" pitchFamily="34" charset="-120"/>
              </a:rPr>
              <a:t>Track</a:t>
            </a:r>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 — case flows: open → assigned → in progress → reported complete</a:t>
            </a:r>
            <a:endParaRPr lang="en-US" sz="800" dirty="0"/>
          </a:p>
        </p:txBody>
      </p:sp>
      <p:sp>
        <p:nvSpPr>
          <p:cNvPr id="30" name="Text 28"/>
          <p:cNvSpPr/>
          <p:nvPr/>
        </p:nvSpPr>
        <p:spPr>
          <a:xfrm>
            <a:off x="3964781" y="3510149"/>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31" name="Text 29"/>
          <p:cNvSpPr/>
          <p:nvPr/>
        </p:nvSpPr>
        <p:spPr>
          <a:xfrm>
            <a:off x="3964781" y="3510149"/>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4</a:t>
            </a:r>
            <a:endParaRPr lang="en-US" sz="800" dirty="0"/>
          </a:p>
        </p:txBody>
      </p:sp>
      <p:sp>
        <p:nvSpPr>
          <p:cNvPr id="32" name="Text 30"/>
          <p:cNvSpPr/>
          <p:nvPr/>
        </p:nvSpPr>
        <p:spPr>
          <a:xfrm>
            <a:off x="4243388" y="3510149"/>
            <a:ext cx="2664619" cy="355519"/>
          </a:xfrm>
          <a:prstGeom prst="rect">
            <a:avLst/>
          </a:prstGeom>
          <a:noFill/>
          <a:ln/>
        </p:spPr>
        <p:txBody>
          <a:bodyPr wrap="square" lIns="0" tIns="21431" rIns="0" bIns="0" rtlCol="0" anchor="t"/>
          <a:lstStyle/>
          <a:p>
            <a:pPr algn="l" indent="0" marL="0">
              <a:lnSpc>
                <a:spcPts val="1055"/>
              </a:lnSpc>
              <a:buNone/>
            </a:pPr>
            <a:r>
              <a:rPr lang="en-US" sz="800" b="1" dirty="0">
                <a:solidFill>
                  <a:srgbClr val="1E4D3B"/>
                </a:solidFill>
                <a:latin typeface="Carlito" pitchFamily="34" charset="0"/>
                <a:ea typeface="Carlito" pitchFamily="34" charset="-122"/>
                <a:cs typeface="Carlito" pitchFamily="34" charset="-120"/>
              </a:rPr>
              <a:t>Verify</a:t>
            </a:r>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 — closure only with real evidence; routine items get polite follow-up</a:t>
            </a:r>
            <a:endParaRPr lang="en-US" sz="800" dirty="0"/>
          </a:p>
        </p:txBody>
      </p:sp>
      <p:sp>
        <p:nvSpPr>
          <p:cNvPr id="33" name="Text 31"/>
          <p:cNvSpPr/>
          <p:nvPr/>
        </p:nvSpPr>
        <p:spPr>
          <a:xfrm>
            <a:off x="7218759" y="1009724"/>
            <a:ext cx="1521619" cy="3274740"/>
          </a:xfrm>
          <a:prstGeom prst="roundRect">
            <a:avLst>
              <a:gd name="adj" fmla="val 8764"/>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pic>
        <p:nvPicPr>
          <p:cNvPr id="34" name="Image 0" descr="/tmp/h2p-fit-1792648422004-6lhgyn.png">    </p:cNvPr>
          <p:cNvPicPr>
            <a:picLocks noChangeAspect="1"/>
          </p:cNvPicPr>
          <p:nvPr/>
        </p:nvPicPr>
        <p:blipFill>
          <a:blip r:embed="rId1"/>
          <a:stretch>
            <a:fillRect/>
          </a:stretch>
        </p:blipFill>
        <p:spPr>
          <a:xfrm>
            <a:off x="7222331" y="1013296"/>
            <a:ext cx="1514475" cy="2986199"/>
          </a:xfrm>
          <a:prstGeom prst="rect">
            <a:avLst/>
          </a:prstGeom>
        </p:spPr>
      </p:pic>
      <p:sp>
        <p:nvSpPr>
          <p:cNvPr id="35" name="Text 32"/>
          <p:cNvSpPr/>
          <p:nvPr/>
        </p:nvSpPr>
        <p:spPr>
          <a:xfrm>
            <a:off x="7222331" y="3999495"/>
            <a:ext cx="1514475" cy="281397"/>
          </a:xfrm>
          <a:prstGeom prst="rect">
            <a:avLst/>
          </a:prstGeom>
          <a:solidFill>
            <a:srgbClr val="FFFFFF"/>
          </a:solidFill>
          <a:ln/>
        </p:spPr>
        <p:txBody>
          <a:bodyPr wrap="square" rtlCol="0" anchor="ctr"/>
          <a:lstStyle/>
          <a:p>
            <a:pPr indent="0" marL="0">
              <a:buNone/>
            </a:pPr>
            <a:endParaRPr lang="en-US" dirty="0"/>
          </a:p>
        </p:txBody>
      </p:sp>
      <p:sp>
        <p:nvSpPr>
          <p:cNvPr id="36" name="Text 33"/>
          <p:cNvSpPr/>
          <p:nvPr/>
        </p:nvSpPr>
        <p:spPr>
          <a:xfrm>
            <a:off x="7322344" y="4078077"/>
            <a:ext cx="1367028" cy="124234"/>
          </a:xfrm>
          <a:prstGeom prst="rect">
            <a:avLst/>
          </a:prstGeom>
          <a:noFill/>
          <a:ln/>
        </p:spPr>
        <p:txBody>
          <a:bodyPr wrap="square" lIns="0" tIns="0" rIns="0" bIns="0" rtlCol="0" anchor="t"/>
          <a:lstStyle/>
          <a:p>
            <a:pPr algn="ctr" indent="0" marL="0">
              <a:lnSpc>
                <a:spcPts val="979"/>
              </a:lnSpc>
              <a:buNone/>
            </a:pPr>
            <a:r>
              <a:rPr lang="en-US" sz="675" i="1" dirty="0">
                <a:solidFill>
                  <a:srgbClr val="33463C"/>
                </a:solidFill>
                <a:latin typeface="Carlito" pitchFamily="34" charset="0"/>
                <a:ea typeface="Carlito" pitchFamily="34" charset="-122"/>
                <a:cs typeface="Carlito" pitchFamily="34" charset="-120"/>
              </a:rPr>
              <a:t>The guardian that never blinks.</a:t>
            </a:r>
            <a:endParaRPr lang="en-US" sz="675" dirty="0"/>
          </a:p>
        </p:txBody>
      </p:sp>
      <p:sp>
        <p:nvSpPr>
          <p:cNvPr id="37" name="Text 34"/>
          <p:cNvSpPr/>
          <p:nvPr/>
        </p:nvSpPr>
        <p:spPr>
          <a:xfrm>
            <a:off x="403622" y="4405908"/>
            <a:ext cx="8336756" cy="491133"/>
          </a:xfrm>
          <a:prstGeom prst="roundRect">
            <a:avLst>
              <a:gd name="adj" fmla="val 27152"/>
            </a:avLst>
          </a:prstGeom>
          <a:solidFill>
            <a:srgbClr val="FBF3DC"/>
          </a:solidFill>
          <a:ln w="7144">
            <a:solidFill>
              <a:srgbClr val="EFDFB2"/>
            </a:solidFill>
            <a:prstDash val="solid"/>
          </a:ln>
        </p:spPr>
        <p:txBody>
          <a:bodyPr wrap="square" rtlCol="0" anchor="ctr"/>
          <a:lstStyle/>
          <a:p>
            <a:pPr indent="0" marL="0">
              <a:buNone/>
            </a:pPr>
            <a:endParaRPr lang="en-US" dirty="0"/>
          </a:p>
        </p:txBody>
      </p:sp>
      <p:sp>
        <p:nvSpPr>
          <p:cNvPr id="38" name="Text 35"/>
          <p:cNvSpPr/>
          <p:nvPr/>
        </p:nvSpPr>
        <p:spPr>
          <a:xfrm>
            <a:off x="564356" y="4502348"/>
            <a:ext cx="135731" cy="135731"/>
          </a:xfrm>
          <a:prstGeom prst="rect">
            <a:avLst/>
          </a:prstGeom>
          <a:noFill/>
          <a:ln/>
        </p:spPr>
        <p:txBody>
          <a:bodyPr wrap="none" lIns="0" tIns="0" rIns="0" bIns="0" rtlCol="0" anchor="ctr"/>
          <a:lstStyle/>
          <a:p>
            <a:pPr algn="ctr" indent="0" marL="0">
              <a:buNone/>
            </a:pPr>
            <a:r>
              <a:rPr lang="en-US" sz="1336" dirty="0">
                <a:solidFill>
                  <a:srgbClr val="8F6E12"/>
                </a:solidFill>
                <a:latin typeface="Segoe UI Symbol" pitchFamily="34" charset="0"/>
                <a:ea typeface="Segoe UI Symbol" pitchFamily="34" charset="-122"/>
                <a:cs typeface="Segoe UI Symbol" pitchFamily="34" charset="-120"/>
              </a:rPr>
              <a:t>⚡</a:t>
            </a:r>
            <a:endParaRPr lang="en-US" sz="1336" dirty="0"/>
          </a:p>
        </p:txBody>
      </p:sp>
      <p:sp>
        <p:nvSpPr>
          <p:cNvPr id="39" name="Text 36"/>
          <p:cNvSpPr/>
          <p:nvPr/>
        </p:nvSpPr>
        <p:spPr>
          <a:xfrm>
            <a:off x="771525" y="4495205"/>
            <a:ext cx="7808119" cy="164592"/>
          </a:xfrm>
          <a:prstGeom prst="rect">
            <a:avLst/>
          </a:prstGeom>
          <a:noFill/>
          <a:ln/>
        </p:spPr>
        <p:txBody>
          <a:bodyPr wrap="square" lIns="0" tIns="0" rIns="0" bIns="0" rtlCol="0" anchor="t"/>
          <a:lstStyle/>
          <a:p>
            <a:pPr algn="l" indent="0" marL="0">
              <a:lnSpc>
                <a:spcPts val="1181"/>
              </a:lnSpc>
              <a:buNone/>
            </a:pPr>
            <a:r>
              <a:rPr lang="en-US" sz="800" b="1" dirty="0">
                <a:solidFill>
                  <a:srgbClr val="1E4D3B"/>
                </a:solidFill>
                <a:latin typeface="Carlito" pitchFamily="34" charset="0"/>
                <a:ea typeface="Carlito" pitchFamily="34" charset="-122"/>
                <a:cs typeface="Carlito" pitchFamily="34" charset="-120"/>
              </a:rPr>
              <a:t>A toddler near an open balcony door → alarm in seconds. A cracked switch → a case a technician actually completes.</a:t>
            </a:r>
            <a:endParaRPr lang="en-US" sz="800" dirty="0"/>
          </a:p>
        </p:txBody>
      </p:sp>
      <p:sp>
        <p:nvSpPr>
          <p:cNvPr id="40" name="Text 37"/>
          <p:cNvSpPr/>
          <p:nvPr/>
        </p:nvSpPr>
        <p:spPr>
          <a:xfrm>
            <a:off x="564356" y="4673798"/>
            <a:ext cx="8015288" cy="133945"/>
          </a:xfrm>
          <a:prstGeom prst="rect">
            <a:avLst/>
          </a:prstGeom>
          <a:noFill/>
          <a:ln/>
        </p:spPr>
        <p:txBody>
          <a:bodyPr wrap="square" lIns="0" tIns="0" rIns="0" bIns="0" rtlCol="0" anchor="t"/>
          <a:lstStyle/>
          <a:p>
            <a:pPr algn="r" indent="0" marL="0">
              <a:lnSpc>
                <a:spcPts val="1055"/>
              </a:lnSpc>
              <a:buNone/>
            </a:pPr>
            <a:r>
              <a:rPr lang="en-US" sz="800" i="1" dirty="0">
                <a:solidFill>
                  <a:srgbClr val="8F6E12"/>
                </a:solidFill>
                <a:latin typeface="Carlito" pitchFamily="34" charset="0"/>
                <a:ea typeface="Carlito" pitchFamily="34" charset="-122"/>
                <a:cs typeface="Carlito" pitchFamily="34" charset="-120"/>
              </a:rPr>
              <a:t>Urgent gets urgency. Routine gets follow-through. Families get both.</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pic>
        <p:nvPicPr>
          <p:cNvPr id="2" name="Image 0" descr="/tmp/h2p-fit-1792648422813-ng2leb.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0" y="0"/>
            <a:ext cx="9144000" cy="5143500"/>
          </a:xfrm>
          <a:prstGeom prst="rect">
            <a:avLst/>
          </a:prstGeom>
        </p:spPr>
      </p:pic>
      <p:sp>
        <p:nvSpPr>
          <p:cNvPr id="5" name="Text 0"/>
          <p:cNvSpPr/>
          <p:nvPr/>
        </p:nvSpPr>
        <p:spPr>
          <a:xfrm>
            <a:off x="634365" y="1206093"/>
            <a:ext cx="1441542" cy="212027"/>
          </a:xfrm>
          <a:prstGeom prst="roundRect">
            <a:avLst>
              <a:gd name="adj" fmla="val 4487860"/>
            </a:avLst>
          </a:prstGeom>
          <a:solidFill>
            <a:srgbClr val="E4EFE6"/>
          </a:solidFill>
          <a:ln/>
        </p:spPr>
        <p:txBody>
          <a:bodyPr wrap="square" rtlCol="0" anchor="ctr"/>
          <a:lstStyle/>
          <a:p>
            <a:pPr indent="0" marL="0">
              <a:buNone/>
            </a:pPr>
            <a:endParaRPr lang="en-US" dirty="0"/>
          </a:p>
        </p:txBody>
      </p:sp>
      <p:sp>
        <p:nvSpPr>
          <p:cNvPr id="6" name="Text 1"/>
          <p:cNvSpPr/>
          <p:nvPr/>
        </p:nvSpPr>
        <p:spPr>
          <a:xfrm>
            <a:off x="900113" y="1267458"/>
            <a:ext cx="1052922" cy="119703"/>
          </a:xfrm>
          <a:prstGeom prst="rect">
            <a:avLst/>
          </a:prstGeom>
          <a:noFill/>
          <a:ln/>
        </p:spPr>
        <p:txBody>
          <a:bodyPr wrap="none" lIns="0" tIns="0" rIns="0" bIns="0" rtlCol="0" anchor="t"/>
          <a:lstStyle/>
          <a:p>
            <a:pPr algn="l" indent="0" marL="0">
              <a:lnSpc>
                <a:spcPts val="928"/>
              </a:lnSpc>
              <a:buNone/>
            </a:pPr>
            <a:r>
              <a:rPr lang="en-US" sz="800" b="1" spc="135" kern="0" dirty="0">
                <a:solidFill>
                  <a:srgbClr val="1E4D3B"/>
                </a:solidFill>
                <a:latin typeface="Carlito" pitchFamily="34" charset="0"/>
                <a:ea typeface="Carlito" pitchFamily="34" charset="-122"/>
                <a:cs typeface="Carlito" pitchFamily="34" charset="-120"/>
              </a:rPr>
              <a:t>WHY THIS MATTERS</a:t>
            </a:r>
            <a:endParaRPr lang="en-US" sz="800" dirty="0"/>
          </a:p>
        </p:txBody>
      </p:sp>
      <p:sp>
        <p:nvSpPr>
          <p:cNvPr id="7" name="Text 2"/>
          <p:cNvSpPr/>
          <p:nvPr/>
        </p:nvSpPr>
        <p:spPr>
          <a:xfrm>
            <a:off x="757238" y="1262100"/>
            <a:ext cx="100013" cy="100013"/>
          </a:xfrm>
          <a:prstGeom prst="rect">
            <a:avLst/>
          </a:prstGeom>
          <a:noFill/>
          <a:ln/>
        </p:spPr>
        <p:txBody>
          <a:bodyPr wrap="none" lIns="0" tIns="0" rIns="0" bIns="0" rtlCol="0" anchor="ctr"/>
          <a:lstStyle/>
          <a:p>
            <a:pPr algn="ctr" indent="0" marL="0">
              <a:buNone/>
            </a:pPr>
            <a:r>
              <a:rPr lang="en-US" sz="984" dirty="0">
                <a:solidFill>
                  <a:srgbClr val="8F6E12"/>
                </a:solidFill>
                <a:latin typeface="Segoe UI Symbol" pitchFamily="34" charset="0"/>
                <a:ea typeface="Segoe UI Symbol" pitchFamily="34" charset="-122"/>
                <a:cs typeface="Segoe UI Symbol" pitchFamily="34" charset="-120"/>
              </a:rPr>
              <a:t>♥</a:t>
            </a:r>
            <a:endParaRPr lang="en-US" sz="984" dirty="0"/>
          </a:p>
        </p:txBody>
      </p:sp>
      <p:sp>
        <p:nvSpPr>
          <p:cNvPr id="8" name="Text 3"/>
          <p:cNvSpPr/>
          <p:nvPr/>
        </p:nvSpPr>
        <p:spPr>
          <a:xfrm>
            <a:off x="657225" y="1578211"/>
            <a:ext cx="5343525" cy="823362"/>
          </a:xfrm>
          <a:prstGeom prst="rect">
            <a:avLst/>
          </a:prstGeom>
          <a:noFill/>
          <a:ln/>
        </p:spPr>
        <p:txBody>
          <a:bodyPr wrap="none" lIns="0" tIns="0" rIns="0" bIns="0" rtlCol="0" anchor="t"/>
          <a:lstStyle/>
          <a:p>
            <a:pPr algn="l" indent="0" marL="0">
              <a:lnSpc>
                <a:spcPts val="3001"/>
              </a:lnSpc>
              <a:buNone/>
            </a:pPr>
            <a:r>
              <a:rPr lang="en-US" sz="2588" b="1" dirty="0">
                <a:solidFill>
                  <a:srgbClr val="FBF9F4"/>
                </a:solidFill>
                <a:latin typeface="Carlito" pitchFamily="34" charset="0"/>
                <a:ea typeface="Carlito" pitchFamily="34" charset="-122"/>
                <a:cs typeface="Carlito" pitchFamily="34" charset="-120"/>
              </a:rPr>
              <a:t>Babies are our world —</a:t>
            </a:r>
            <a:endParaRPr lang="en-US" sz="2588" dirty="0"/>
          </a:p>
          <a:p>
            <a:pPr algn="l" indent="0" marL="0">
              <a:lnSpc>
                <a:spcPts val="3001"/>
              </a:lnSpc>
              <a:buNone/>
            </a:pPr>
            <a:r>
              <a:rPr lang="en-US" sz="2588" b="1" dirty="0">
                <a:solidFill>
                  <a:srgbClr val="FBF9F4"/>
                </a:solidFill>
                <a:latin typeface="Carlito" pitchFamily="34" charset="0"/>
                <a:ea typeface="Carlito" pitchFamily="34" charset="-122"/>
                <a:cs typeface="Carlito" pitchFamily="34" charset="-120"/>
              </a:rPr>
              <a:t>for their mom and dad.</a:t>
            </a:r>
            <a:endParaRPr lang="en-US" sz="2588" dirty="0"/>
          </a:p>
        </p:txBody>
      </p:sp>
      <p:sp>
        <p:nvSpPr>
          <p:cNvPr id="9" name="Text 4"/>
          <p:cNvSpPr/>
          <p:nvPr/>
        </p:nvSpPr>
        <p:spPr>
          <a:xfrm>
            <a:off x="657225" y="2497745"/>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10" name="Text 5"/>
          <p:cNvSpPr/>
          <p:nvPr/>
        </p:nvSpPr>
        <p:spPr>
          <a:xfrm>
            <a:off x="657225" y="2676339"/>
            <a:ext cx="4857750" cy="906060"/>
          </a:xfrm>
          <a:prstGeom prst="rect">
            <a:avLst/>
          </a:prstGeom>
          <a:noFill/>
          <a:ln/>
        </p:spPr>
        <p:txBody>
          <a:bodyPr wrap="square" lIns="0" tIns="0" rIns="0" bIns="0" rtlCol="0" anchor="t"/>
          <a:lstStyle/>
          <a:p>
            <a:pPr algn="l" indent="0" marL="0">
              <a:lnSpc>
                <a:spcPts val="1652"/>
              </a:lnSpc>
              <a:buNone/>
            </a:pPr>
            <a:r>
              <a:rPr lang="en-US" sz="928" dirty="0">
                <a:solidFill>
                  <a:srgbClr val="FBF9F4">
                    <a:alpha val="93000"/>
                  </a:srgbClr>
                </a:solidFill>
                <a:latin typeface="Carlito" pitchFamily="34" charset="0"/>
                <a:ea typeface="Carlito" pitchFamily="34" charset="-122"/>
                <a:cs typeface="Carlito" pitchFamily="34" charset="-120"/>
              </a:rPr>
              <a:t>To a mother and father, a child is not a part of life — the child is life itself. Every parent promises to protect that little world, yet no parent can watch every second of every day. GuardianLoop exists for the parents who give everything, and simply need one more guardian watching in the seconds they must look away.</a:t>
            </a:r>
            <a:endParaRPr lang="en-US" sz="928" dirty="0"/>
          </a:p>
        </p:txBody>
      </p:sp>
      <p:sp>
        <p:nvSpPr>
          <p:cNvPr id="11" name="Text 6"/>
          <p:cNvSpPr/>
          <p:nvPr/>
        </p:nvSpPr>
        <p:spPr>
          <a:xfrm>
            <a:off x="657225" y="3701021"/>
            <a:ext cx="5246370" cy="243030"/>
          </a:xfrm>
          <a:prstGeom prst="rect">
            <a:avLst/>
          </a:prstGeom>
          <a:noFill/>
          <a:ln/>
        </p:spPr>
        <p:txBody>
          <a:bodyPr wrap="square" lIns="0" tIns="0" rIns="0" bIns="0" rtlCol="0" anchor="t"/>
          <a:lstStyle/>
          <a:p>
            <a:pPr algn="l" indent="0" marL="0">
              <a:lnSpc>
                <a:spcPts val="1772"/>
              </a:lnSpc>
              <a:buNone/>
            </a:pPr>
            <a:r>
              <a:rPr lang="en-US" sz="1181" b="1" dirty="0">
                <a:solidFill>
                  <a:srgbClr val="E8B931"/>
                </a:solidFill>
                <a:latin typeface="Carlito" pitchFamily="34" charset="0"/>
                <a:ea typeface="Carlito" pitchFamily="34" charset="-122"/>
                <a:cs typeface="Carlito" pitchFamily="34" charset="-120"/>
              </a:rPr>
              <a:t>This is not surveillance. It is love, engineered.</a:t>
            </a:r>
            <a:endParaRPr lang="en-US" sz="118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00050" y="314325"/>
            <a:ext cx="8636000" cy="274976"/>
          </a:xfrm>
          <a:prstGeom prst="rect">
            <a:avLst/>
          </a:prstGeom>
          <a:noFill/>
          <a:ln/>
        </p:spPr>
        <p:txBody>
          <a:bodyPr wrap="square" lIns="0" tIns="0" rIns="0" bIns="0" rtlCol="0" anchor="t"/>
          <a:lstStyle/>
          <a:p>
            <a:pPr algn="l" indent="0" marL="0">
              <a:lnSpc>
                <a:spcPts val="2005"/>
              </a:lnSpc>
              <a:buNone/>
            </a:pPr>
            <a:r>
              <a:rPr lang="en-US" sz="1744" b="1" spc="-23" kern="0" dirty="0">
                <a:solidFill>
                  <a:srgbClr val="1E4D3B"/>
                </a:solidFill>
                <a:latin typeface="Carlito" pitchFamily="34" charset="0"/>
                <a:ea typeface="Carlito" pitchFamily="34" charset="-122"/>
                <a:cs typeface="Carlito" pitchFamily="34" charset="-120"/>
              </a:rPr>
              <a:t>Technical Explanation — The GuardianLoop Agent Loop</a:t>
            </a:r>
            <a:endParaRPr lang="en-US" sz="1744" dirty="0"/>
          </a:p>
        </p:txBody>
      </p:sp>
      <p:sp>
        <p:nvSpPr>
          <p:cNvPr id="3" name="Text 1"/>
          <p:cNvSpPr/>
          <p:nvPr/>
        </p:nvSpPr>
        <p:spPr>
          <a:xfrm>
            <a:off x="400050" y="654658"/>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4" name="Text 2"/>
          <p:cNvSpPr/>
          <p:nvPr/>
        </p:nvSpPr>
        <p:spPr>
          <a:xfrm>
            <a:off x="403622" y="851111"/>
            <a:ext cx="2009180" cy="1495946"/>
          </a:xfrm>
          <a:prstGeom prst="roundRect">
            <a:avLst>
              <a:gd name="adj" fmla="val 8914"/>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5" name="Text 3"/>
          <p:cNvSpPr/>
          <p:nvPr/>
        </p:nvSpPr>
        <p:spPr>
          <a:xfrm>
            <a:off x="521494" y="1320589"/>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6" name="Text 4"/>
          <p:cNvSpPr/>
          <p:nvPr/>
        </p:nvSpPr>
        <p:spPr>
          <a:xfrm>
            <a:off x="521494" y="1320589"/>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1</a:t>
            </a:r>
            <a:endParaRPr lang="en-US" sz="844" dirty="0"/>
          </a:p>
        </p:txBody>
      </p:sp>
      <p:sp>
        <p:nvSpPr>
          <p:cNvPr id="7" name="Text 5"/>
          <p:cNvSpPr/>
          <p:nvPr/>
        </p:nvSpPr>
        <p:spPr>
          <a:xfrm>
            <a:off x="821531" y="1349164"/>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Observe</a:t>
            </a:r>
            <a:endParaRPr lang="en-US" sz="900" dirty="0"/>
          </a:p>
        </p:txBody>
      </p:sp>
      <p:sp>
        <p:nvSpPr>
          <p:cNvPr id="8" name="Text 6"/>
          <p:cNvSpPr/>
          <p:nvPr/>
        </p:nvSpPr>
        <p:spPr>
          <a:xfrm>
            <a:off x="521494" y="1613483"/>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cameras, sensors &amp; user reports with source + timestamp</a:t>
            </a:r>
            <a:endParaRPr lang="en-US" sz="800" dirty="0"/>
          </a:p>
        </p:txBody>
      </p:sp>
      <p:sp>
        <p:nvSpPr>
          <p:cNvPr id="9" name="Text 7"/>
          <p:cNvSpPr/>
          <p:nvPr/>
        </p:nvSpPr>
        <p:spPr>
          <a:xfrm>
            <a:off x="2512814" y="851111"/>
            <a:ext cx="2009180" cy="1495946"/>
          </a:xfrm>
          <a:prstGeom prst="roundRect">
            <a:avLst>
              <a:gd name="adj" fmla="val 8914"/>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0" name="Text 8"/>
          <p:cNvSpPr/>
          <p:nvPr/>
        </p:nvSpPr>
        <p:spPr>
          <a:xfrm>
            <a:off x="2630686" y="1320589"/>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11" name="Text 9"/>
          <p:cNvSpPr/>
          <p:nvPr/>
        </p:nvSpPr>
        <p:spPr>
          <a:xfrm>
            <a:off x="2630686" y="1320589"/>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2</a:t>
            </a:r>
            <a:endParaRPr lang="en-US" sz="844" dirty="0"/>
          </a:p>
        </p:txBody>
      </p:sp>
      <p:sp>
        <p:nvSpPr>
          <p:cNvPr id="12" name="Text 10"/>
          <p:cNvSpPr/>
          <p:nvPr/>
        </p:nvSpPr>
        <p:spPr>
          <a:xfrm>
            <a:off x="2930723" y="1349164"/>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Interpret</a:t>
            </a:r>
            <a:endParaRPr lang="en-US" sz="900" dirty="0"/>
          </a:p>
        </p:txBody>
      </p:sp>
      <p:sp>
        <p:nvSpPr>
          <p:cNvPr id="13" name="Text 11"/>
          <p:cNvSpPr/>
          <p:nvPr/>
        </p:nvSpPr>
        <p:spPr>
          <a:xfrm>
            <a:off x="2630686" y="1613483"/>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convert to structured events with confidence &amp; uncertainty</a:t>
            </a:r>
            <a:endParaRPr lang="en-US" sz="800" dirty="0"/>
          </a:p>
        </p:txBody>
      </p:sp>
      <p:sp>
        <p:nvSpPr>
          <p:cNvPr id="14" name="Text 12"/>
          <p:cNvSpPr/>
          <p:nvPr/>
        </p:nvSpPr>
        <p:spPr>
          <a:xfrm>
            <a:off x="4622006" y="851111"/>
            <a:ext cx="2009180" cy="1495946"/>
          </a:xfrm>
          <a:prstGeom prst="roundRect">
            <a:avLst>
              <a:gd name="adj" fmla="val 8914"/>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5" name="Text 13"/>
          <p:cNvSpPr/>
          <p:nvPr/>
        </p:nvSpPr>
        <p:spPr>
          <a:xfrm>
            <a:off x="4739878" y="1320589"/>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16" name="Text 14"/>
          <p:cNvSpPr/>
          <p:nvPr/>
        </p:nvSpPr>
        <p:spPr>
          <a:xfrm>
            <a:off x="4739878" y="1320589"/>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3</a:t>
            </a:r>
            <a:endParaRPr lang="en-US" sz="844" dirty="0"/>
          </a:p>
        </p:txBody>
      </p:sp>
      <p:sp>
        <p:nvSpPr>
          <p:cNvPr id="17" name="Text 15"/>
          <p:cNvSpPr/>
          <p:nvPr/>
        </p:nvSpPr>
        <p:spPr>
          <a:xfrm>
            <a:off x="5039916" y="1349164"/>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Plan</a:t>
            </a:r>
            <a:endParaRPr lang="en-US" sz="900" dirty="0"/>
          </a:p>
        </p:txBody>
      </p:sp>
      <p:sp>
        <p:nvSpPr>
          <p:cNvPr id="18" name="Text 16"/>
          <p:cNvSpPr/>
          <p:nvPr/>
        </p:nvSpPr>
        <p:spPr>
          <a:xfrm>
            <a:off x="4739878" y="1613483"/>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propose the right action sequence for the event</a:t>
            </a:r>
            <a:endParaRPr lang="en-US" sz="800" dirty="0"/>
          </a:p>
        </p:txBody>
      </p:sp>
      <p:sp>
        <p:nvSpPr>
          <p:cNvPr id="19" name="Text 17"/>
          <p:cNvSpPr/>
          <p:nvPr/>
        </p:nvSpPr>
        <p:spPr>
          <a:xfrm>
            <a:off x="6731198" y="851111"/>
            <a:ext cx="2009180" cy="1495946"/>
          </a:xfrm>
          <a:prstGeom prst="roundRect">
            <a:avLst>
              <a:gd name="adj" fmla="val 8914"/>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0" name="Text 18"/>
          <p:cNvSpPr/>
          <p:nvPr/>
        </p:nvSpPr>
        <p:spPr>
          <a:xfrm>
            <a:off x="6849070" y="1320589"/>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21" name="Text 19"/>
          <p:cNvSpPr/>
          <p:nvPr/>
        </p:nvSpPr>
        <p:spPr>
          <a:xfrm>
            <a:off x="6849070" y="1320589"/>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4</a:t>
            </a:r>
            <a:endParaRPr lang="en-US" sz="844" dirty="0"/>
          </a:p>
        </p:txBody>
      </p:sp>
      <p:sp>
        <p:nvSpPr>
          <p:cNvPr id="22" name="Text 20"/>
          <p:cNvSpPr/>
          <p:nvPr/>
        </p:nvSpPr>
        <p:spPr>
          <a:xfrm>
            <a:off x="7149108" y="1349164"/>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Guardrails</a:t>
            </a:r>
            <a:endParaRPr lang="en-US" sz="900" dirty="0"/>
          </a:p>
        </p:txBody>
      </p:sp>
      <p:sp>
        <p:nvSpPr>
          <p:cNvPr id="23" name="Text 21"/>
          <p:cNvSpPr/>
          <p:nvPr/>
        </p:nvSpPr>
        <p:spPr>
          <a:xfrm>
            <a:off x="6849070" y="1613483"/>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deterministic code checks safety rules &amp; permissions before any action</a:t>
            </a:r>
            <a:endParaRPr lang="en-US" sz="800" dirty="0"/>
          </a:p>
        </p:txBody>
      </p:sp>
      <p:sp>
        <p:nvSpPr>
          <p:cNvPr id="24" name="Text 22"/>
          <p:cNvSpPr/>
          <p:nvPr/>
        </p:nvSpPr>
        <p:spPr>
          <a:xfrm>
            <a:off x="403622" y="2447069"/>
            <a:ext cx="2009180" cy="1496058"/>
          </a:xfrm>
          <a:prstGeom prst="roundRect">
            <a:avLst>
              <a:gd name="adj" fmla="val 8913"/>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5" name="Text 23"/>
          <p:cNvSpPr/>
          <p:nvPr/>
        </p:nvSpPr>
        <p:spPr>
          <a:xfrm>
            <a:off x="521494" y="2916548"/>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26" name="Text 24"/>
          <p:cNvSpPr/>
          <p:nvPr/>
        </p:nvSpPr>
        <p:spPr>
          <a:xfrm>
            <a:off x="521494" y="2916548"/>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5</a:t>
            </a:r>
            <a:endParaRPr lang="en-US" sz="844" dirty="0"/>
          </a:p>
        </p:txBody>
      </p:sp>
      <p:sp>
        <p:nvSpPr>
          <p:cNvPr id="27" name="Text 25"/>
          <p:cNvSpPr/>
          <p:nvPr/>
        </p:nvSpPr>
        <p:spPr>
          <a:xfrm>
            <a:off x="821531" y="2945123"/>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Execute</a:t>
            </a:r>
            <a:endParaRPr lang="en-US" sz="900" dirty="0"/>
          </a:p>
        </p:txBody>
      </p:sp>
      <p:sp>
        <p:nvSpPr>
          <p:cNvPr id="28" name="Text 26"/>
          <p:cNvSpPr/>
          <p:nvPr/>
        </p:nvSpPr>
        <p:spPr>
          <a:xfrm>
            <a:off x="521494" y="3209441"/>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raise alarm, notify caregiver, open maintenance case, book technician</a:t>
            </a:r>
            <a:endParaRPr lang="en-US" sz="800" dirty="0"/>
          </a:p>
        </p:txBody>
      </p:sp>
      <p:sp>
        <p:nvSpPr>
          <p:cNvPr id="29" name="Text 27"/>
          <p:cNvSpPr/>
          <p:nvPr/>
        </p:nvSpPr>
        <p:spPr>
          <a:xfrm>
            <a:off x="2512814" y="2447069"/>
            <a:ext cx="2009180" cy="1496058"/>
          </a:xfrm>
          <a:prstGeom prst="roundRect">
            <a:avLst>
              <a:gd name="adj" fmla="val 8913"/>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30" name="Text 28"/>
          <p:cNvSpPr/>
          <p:nvPr/>
        </p:nvSpPr>
        <p:spPr>
          <a:xfrm>
            <a:off x="2630686" y="2916548"/>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31" name="Text 29"/>
          <p:cNvSpPr/>
          <p:nvPr/>
        </p:nvSpPr>
        <p:spPr>
          <a:xfrm>
            <a:off x="2630686" y="2916548"/>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6</a:t>
            </a:r>
            <a:endParaRPr lang="en-US" sz="844" dirty="0"/>
          </a:p>
        </p:txBody>
      </p:sp>
      <p:sp>
        <p:nvSpPr>
          <p:cNvPr id="32" name="Text 30"/>
          <p:cNvSpPr/>
          <p:nvPr/>
        </p:nvSpPr>
        <p:spPr>
          <a:xfrm>
            <a:off x="2930723" y="2945123"/>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Verify</a:t>
            </a:r>
            <a:endParaRPr lang="en-US" sz="900" dirty="0"/>
          </a:p>
        </p:txBody>
      </p:sp>
      <p:sp>
        <p:nvSpPr>
          <p:cNvPr id="33" name="Text 31"/>
          <p:cNvSpPr/>
          <p:nvPr/>
        </p:nvSpPr>
        <p:spPr>
          <a:xfrm>
            <a:off x="2630686" y="3209441"/>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inspect real tool results — a sent message is not a resolved hazard</a:t>
            </a:r>
            <a:endParaRPr lang="en-US" sz="800" dirty="0"/>
          </a:p>
        </p:txBody>
      </p:sp>
      <p:sp>
        <p:nvSpPr>
          <p:cNvPr id="34" name="Text 32"/>
          <p:cNvSpPr/>
          <p:nvPr/>
        </p:nvSpPr>
        <p:spPr>
          <a:xfrm>
            <a:off x="4622006" y="2447069"/>
            <a:ext cx="2009180" cy="1496058"/>
          </a:xfrm>
          <a:prstGeom prst="roundRect">
            <a:avLst>
              <a:gd name="adj" fmla="val 8913"/>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35" name="Text 33"/>
          <p:cNvSpPr/>
          <p:nvPr/>
        </p:nvSpPr>
        <p:spPr>
          <a:xfrm>
            <a:off x="4739878" y="2916548"/>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36" name="Text 34"/>
          <p:cNvSpPr/>
          <p:nvPr/>
        </p:nvSpPr>
        <p:spPr>
          <a:xfrm>
            <a:off x="4739878" y="2916548"/>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7</a:t>
            </a:r>
            <a:endParaRPr lang="en-US" sz="844" dirty="0"/>
          </a:p>
        </p:txBody>
      </p:sp>
      <p:sp>
        <p:nvSpPr>
          <p:cNvPr id="37" name="Text 35"/>
          <p:cNvSpPr/>
          <p:nvPr/>
        </p:nvSpPr>
        <p:spPr>
          <a:xfrm>
            <a:off x="5039916" y="2947801"/>
            <a:ext cx="1473398" cy="179380"/>
          </a:xfrm>
          <a:prstGeom prst="rect">
            <a:avLst/>
          </a:prstGeom>
          <a:noFill/>
          <a:ln/>
        </p:spPr>
        <p:txBody>
          <a:bodyPr wrap="none" lIns="0" tIns="0" rIns="0" bIns="0" rtlCol="0" anchor="t"/>
          <a:lstStyle/>
          <a:p>
            <a:pPr algn="l" indent="0" marL="0">
              <a:lnSpc>
                <a:spcPts val="1308"/>
              </a:lnSpc>
              <a:buNone/>
            </a:pPr>
            <a:r>
              <a:rPr lang="en-US" sz="872" b="1" dirty="0">
                <a:solidFill>
                  <a:srgbClr val="1E4D3B"/>
                </a:solidFill>
                <a:latin typeface="Carlito" pitchFamily="34" charset="0"/>
                <a:ea typeface="Carlito" pitchFamily="34" charset="-122"/>
                <a:cs typeface="Carlito" pitchFamily="34" charset="-120"/>
              </a:rPr>
              <a:t>Recover &amp; Escalate</a:t>
            </a:r>
            <a:endParaRPr lang="en-US" sz="872" dirty="0"/>
          </a:p>
        </p:txBody>
      </p:sp>
      <p:sp>
        <p:nvSpPr>
          <p:cNvPr id="38" name="Text 36"/>
          <p:cNvSpPr/>
          <p:nvPr/>
        </p:nvSpPr>
        <p:spPr>
          <a:xfrm>
            <a:off x="4739878" y="3209441"/>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retry safely, then hand over to humans per policy</a:t>
            </a:r>
            <a:endParaRPr lang="en-US" sz="800" dirty="0"/>
          </a:p>
        </p:txBody>
      </p:sp>
      <p:sp>
        <p:nvSpPr>
          <p:cNvPr id="39" name="Text 37"/>
          <p:cNvSpPr/>
          <p:nvPr/>
        </p:nvSpPr>
        <p:spPr>
          <a:xfrm>
            <a:off x="6731198" y="2447069"/>
            <a:ext cx="2009180" cy="1496058"/>
          </a:xfrm>
          <a:prstGeom prst="roundRect">
            <a:avLst>
              <a:gd name="adj" fmla="val 8913"/>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40" name="Text 38"/>
          <p:cNvSpPr/>
          <p:nvPr/>
        </p:nvSpPr>
        <p:spPr>
          <a:xfrm>
            <a:off x="6849070" y="2916548"/>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41" name="Text 39"/>
          <p:cNvSpPr/>
          <p:nvPr/>
        </p:nvSpPr>
        <p:spPr>
          <a:xfrm>
            <a:off x="6849070" y="2916548"/>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8</a:t>
            </a:r>
            <a:endParaRPr lang="en-US" sz="844" dirty="0"/>
          </a:p>
        </p:txBody>
      </p:sp>
      <p:sp>
        <p:nvSpPr>
          <p:cNvPr id="42" name="Text 40"/>
          <p:cNvSpPr/>
          <p:nvPr/>
        </p:nvSpPr>
        <p:spPr>
          <a:xfrm>
            <a:off x="7149108" y="2945123"/>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Audit</a:t>
            </a:r>
            <a:endParaRPr lang="en-US" sz="900" dirty="0"/>
          </a:p>
        </p:txBody>
      </p:sp>
      <p:sp>
        <p:nvSpPr>
          <p:cNvPr id="43" name="Text 41"/>
          <p:cNvSpPr/>
          <p:nvPr/>
        </p:nvSpPr>
        <p:spPr>
          <a:xfrm>
            <a:off x="6849070" y="3209441"/>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keep a proportionate event record of every decision</a:t>
            </a:r>
            <a:endParaRPr lang="en-US" sz="800" dirty="0"/>
          </a:p>
        </p:txBody>
      </p:sp>
      <p:sp>
        <p:nvSpPr>
          <p:cNvPr id="44" name="Text 42"/>
          <p:cNvSpPr/>
          <p:nvPr/>
        </p:nvSpPr>
        <p:spPr>
          <a:xfrm>
            <a:off x="400050" y="4053855"/>
            <a:ext cx="2719313" cy="611014"/>
          </a:xfrm>
          <a:prstGeom prst="roundRect">
            <a:avLst>
              <a:gd name="adj" fmla="val 21824"/>
            </a:avLst>
          </a:prstGeom>
          <a:solidFill>
            <a:srgbClr val="E4EFE6"/>
          </a:solidFill>
          <a:ln/>
        </p:spPr>
        <p:txBody>
          <a:bodyPr wrap="square" rtlCol="0" anchor="ctr"/>
          <a:lstStyle/>
          <a:p>
            <a:pPr indent="0" marL="0">
              <a:buNone/>
            </a:pPr>
            <a:endParaRPr lang="en-US" dirty="0"/>
          </a:p>
        </p:txBody>
      </p:sp>
      <p:sp>
        <p:nvSpPr>
          <p:cNvPr id="45" name="Text 43"/>
          <p:cNvSpPr/>
          <p:nvPr/>
        </p:nvSpPr>
        <p:spPr>
          <a:xfrm>
            <a:off x="514350" y="4146724"/>
            <a:ext cx="300038" cy="300038"/>
          </a:xfrm>
          <a:prstGeom prst="roundRect">
            <a:avLst>
              <a:gd name="adj" fmla="val 34921"/>
            </a:avLst>
          </a:prstGeom>
          <a:solidFill>
            <a:srgbClr val="FFFFFF"/>
          </a:solidFill>
          <a:ln/>
          <a:effectLst>
            <a:outerShdw sx="100000" sy="100000" kx="0" ky="0" algn="bl" rotWithShape="0" blurRad="28575" dist="9525" dir="5400000">
              <a:srgbClr val="1E4D3B">
                <a:alpha val="10000"/>
              </a:srgbClr>
            </a:outerShdw>
          </a:effectLst>
        </p:spPr>
        <p:txBody>
          <a:bodyPr wrap="square" rtlCol="0" anchor="ctr"/>
          <a:lstStyle/>
          <a:p>
            <a:pPr indent="0" marL="0">
              <a:buNone/>
            </a:pPr>
            <a:endParaRPr lang="en-US" dirty="0"/>
          </a:p>
        </p:txBody>
      </p:sp>
      <p:sp>
        <p:nvSpPr>
          <p:cNvPr id="46" name="Text 44"/>
          <p:cNvSpPr/>
          <p:nvPr/>
        </p:nvSpPr>
        <p:spPr>
          <a:xfrm>
            <a:off x="540068" y="4172441"/>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47" name="Text 45"/>
          <p:cNvSpPr/>
          <p:nvPr/>
        </p:nvSpPr>
        <p:spPr>
          <a:xfrm>
            <a:off x="900113" y="4146724"/>
            <a:ext cx="2104951" cy="149376"/>
          </a:xfrm>
          <a:prstGeom prst="rect">
            <a:avLst/>
          </a:prstGeom>
          <a:noFill/>
          <a:ln/>
        </p:spPr>
        <p:txBody>
          <a:bodyPr wrap="non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Computer vision</a:t>
            </a:r>
            <a:endParaRPr lang="en-US" sz="816" dirty="0"/>
          </a:p>
        </p:txBody>
      </p:sp>
      <p:sp>
        <p:nvSpPr>
          <p:cNvPr id="48" name="Text 46"/>
          <p:cNvSpPr/>
          <p:nvPr/>
        </p:nvSpPr>
        <p:spPr>
          <a:xfrm>
            <a:off x="900113" y="4323531"/>
            <a:ext cx="2104951" cy="248469"/>
          </a:xfrm>
          <a:prstGeom prst="rect">
            <a:avLst/>
          </a:prstGeom>
          <a:noFill/>
          <a:ln/>
        </p:spPr>
        <p:txBody>
          <a:bodyPr wrap="square" lIns="0" tIns="0" rIns="0" bIns="0" rtlCol="0" anchor="t"/>
          <a:lstStyle/>
          <a:p>
            <a:pPr algn="l" indent="0" marL="0">
              <a:lnSpc>
                <a:spcPts val="979"/>
              </a:lnSpc>
              <a:buNone/>
            </a:pPr>
            <a:r>
              <a:rPr lang="en-US" sz="800" dirty="0">
                <a:solidFill>
                  <a:srgbClr val="33463C"/>
                </a:solidFill>
                <a:latin typeface="Carlito" pitchFamily="34" charset="0"/>
                <a:ea typeface="Carlito" pitchFamily="34" charset="-122"/>
                <a:cs typeface="Carlito" pitchFamily="34" charset="-120"/>
              </a:rPr>
              <a:t>child-sized person detection in configured risk zones on fixed cameras</a:t>
            </a:r>
            <a:endParaRPr lang="en-US" sz="800" dirty="0"/>
          </a:p>
        </p:txBody>
      </p:sp>
      <p:sp>
        <p:nvSpPr>
          <p:cNvPr id="49" name="Text 47"/>
          <p:cNvSpPr/>
          <p:nvPr/>
        </p:nvSpPr>
        <p:spPr>
          <a:xfrm>
            <a:off x="3212232" y="4053855"/>
            <a:ext cx="2719425" cy="611014"/>
          </a:xfrm>
          <a:prstGeom prst="roundRect">
            <a:avLst>
              <a:gd name="adj" fmla="val 21824"/>
            </a:avLst>
          </a:prstGeom>
          <a:solidFill>
            <a:srgbClr val="E4EFE6"/>
          </a:solidFill>
          <a:ln/>
        </p:spPr>
        <p:txBody>
          <a:bodyPr wrap="square" rtlCol="0" anchor="ctr"/>
          <a:lstStyle/>
          <a:p>
            <a:pPr indent="0" marL="0">
              <a:buNone/>
            </a:pPr>
            <a:endParaRPr lang="en-US" dirty="0"/>
          </a:p>
        </p:txBody>
      </p:sp>
      <p:sp>
        <p:nvSpPr>
          <p:cNvPr id="50" name="Text 48"/>
          <p:cNvSpPr/>
          <p:nvPr/>
        </p:nvSpPr>
        <p:spPr>
          <a:xfrm>
            <a:off x="3326532" y="4146724"/>
            <a:ext cx="300038" cy="300038"/>
          </a:xfrm>
          <a:prstGeom prst="roundRect">
            <a:avLst>
              <a:gd name="adj" fmla="val 34921"/>
            </a:avLst>
          </a:prstGeom>
          <a:solidFill>
            <a:srgbClr val="FFFFFF"/>
          </a:solidFill>
          <a:ln/>
          <a:effectLst>
            <a:outerShdw sx="100000" sy="100000" kx="0" ky="0" algn="bl" rotWithShape="0" blurRad="28575" dist="9525" dir="5400000">
              <a:srgbClr val="1E4D3B">
                <a:alpha val="10000"/>
              </a:srgbClr>
            </a:outerShdw>
          </a:effectLst>
        </p:spPr>
        <p:txBody>
          <a:bodyPr wrap="square" rtlCol="0" anchor="ctr"/>
          <a:lstStyle/>
          <a:p>
            <a:pPr indent="0" marL="0">
              <a:buNone/>
            </a:pPr>
            <a:endParaRPr lang="en-US" dirty="0"/>
          </a:p>
        </p:txBody>
      </p:sp>
      <p:sp>
        <p:nvSpPr>
          <p:cNvPr id="51" name="Text 49"/>
          <p:cNvSpPr/>
          <p:nvPr/>
        </p:nvSpPr>
        <p:spPr>
          <a:xfrm>
            <a:off x="3352249" y="4172441"/>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52" name="Text 50"/>
          <p:cNvSpPr/>
          <p:nvPr/>
        </p:nvSpPr>
        <p:spPr>
          <a:xfrm>
            <a:off x="3712294" y="4146724"/>
            <a:ext cx="2105062" cy="149376"/>
          </a:xfrm>
          <a:prstGeom prst="rect">
            <a:avLst/>
          </a:prstGeom>
          <a:noFill/>
          <a:ln/>
        </p:spPr>
        <p:txBody>
          <a:bodyPr wrap="non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Policy engine</a:t>
            </a:r>
            <a:endParaRPr lang="en-US" sz="816" dirty="0"/>
          </a:p>
        </p:txBody>
      </p:sp>
      <p:sp>
        <p:nvSpPr>
          <p:cNvPr id="53" name="Text 51"/>
          <p:cNvSpPr/>
          <p:nvPr/>
        </p:nvSpPr>
        <p:spPr>
          <a:xfrm>
            <a:off x="3712294" y="4323531"/>
            <a:ext cx="2105062" cy="248469"/>
          </a:xfrm>
          <a:prstGeom prst="rect">
            <a:avLst/>
          </a:prstGeom>
          <a:noFill/>
          <a:ln/>
        </p:spPr>
        <p:txBody>
          <a:bodyPr wrap="square" lIns="0" tIns="0" rIns="0" bIns="0" rtlCol="0" anchor="t"/>
          <a:lstStyle/>
          <a:p>
            <a:pPr algn="l" indent="0" marL="0">
              <a:lnSpc>
                <a:spcPts val="979"/>
              </a:lnSpc>
              <a:buNone/>
            </a:pPr>
            <a:r>
              <a:rPr lang="en-US" sz="800" dirty="0">
                <a:solidFill>
                  <a:srgbClr val="33463C"/>
                </a:solidFill>
                <a:latin typeface="Carlito" pitchFamily="34" charset="0"/>
                <a:ea typeface="Carlito" pitchFamily="34" charset="-122"/>
                <a:cs typeface="Carlito" pitchFamily="34" charset="-120"/>
              </a:rPr>
              <a:t>urgent alerts run on deterministic, pre-approved rules — never queued behind an LLM conversation</a:t>
            </a:r>
            <a:endParaRPr lang="en-US" sz="800" dirty="0"/>
          </a:p>
        </p:txBody>
      </p:sp>
      <p:sp>
        <p:nvSpPr>
          <p:cNvPr id="54" name="Text 52"/>
          <p:cNvSpPr/>
          <p:nvPr/>
        </p:nvSpPr>
        <p:spPr>
          <a:xfrm>
            <a:off x="6024525" y="4053855"/>
            <a:ext cx="2719313" cy="611014"/>
          </a:xfrm>
          <a:prstGeom prst="roundRect">
            <a:avLst>
              <a:gd name="adj" fmla="val 21824"/>
            </a:avLst>
          </a:prstGeom>
          <a:solidFill>
            <a:srgbClr val="E4EFE6"/>
          </a:solidFill>
          <a:ln/>
        </p:spPr>
        <p:txBody>
          <a:bodyPr wrap="square" rtlCol="0" anchor="ctr"/>
          <a:lstStyle/>
          <a:p>
            <a:pPr indent="0" marL="0">
              <a:buNone/>
            </a:pPr>
            <a:endParaRPr lang="en-US" dirty="0"/>
          </a:p>
        </p:txBody>
      </p:sp>
      <p:sp>
        <p:nvSpPr>
          <p:cNvPr id="55" name="Text 53"/>
          <p:cNvSpPr/>
          <p:nvPr/>
        </p:nvSpPr>
        <p:spPr>
          <a:xfrm>
            <a:off x="6138825" y="4146724"/>
            <a:ext cx="300038" cy="300038"/>
          </a:xfrm>
          <a:prstGeom prst="roundRect">
            <a:avLst>
              <a:gd name="adj" fmla="val 34921"/>
            </a:avLst>
          </a:prstGeom>
          <a:solidFill>
            <a:srgbClr val="FFFFFF"/>
          </a:solidFill>
          <a:ln/>
          <a:effectLst>
            <a:outerShdw sx="100000" sy="100000" kx="0" ky="0" algn="bl" rotWithShape="0" blurRad="28575" dist="9525" dir="5400000">
              <a:srgbClr val="1E4D3B">
                <a:alpha val="10000"/>
              </a:srgbClr>
            </a:outerShdw>
          </a:effectLst>
        </p:spPr>
        <p:txBody>
          <a:bodyPr wrap="square" rtlCol="0" anchor="ctr"/>
          <a:lstStyle/>
          <a:p>
            <a:pPr indent="0" marL="0">
              <a:buNone/>
            </a:pPr>
            <a:endParaRPr lang="en-US" dirty="0"/>
          </a:p>
        </p:txBody>
      </p:sp>
      <p:sp>
        <p:nvSpPr>
          <p:cNvPr id="56" name="Text 54"/>
          <p:cNvSpPr/>
          <p:nvPr/>
        </p:nvSpPr>
        <p:spPr>
          <a:xfrm>
            <a:off x="6164543" y="4172441"/>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57" name="Text 55"/>
          <p:cNvSpPr/>
          <p:nvPr/>
        </p:nvSpPr>
        <p:spPr>
          <a:xfrm>
            <a:off x="6524588" y="4146724"/>
            <a:ext cx="2104951" cy="149376"/>
          </a:xfrm>
          <a:prstGeom prst="rect">
            <a:avLst/>
          </a:prstGeom>
          <a:noFill/>
          <a:ln/>
        </p:spPr>
        <p:txBody>
          <a:bodyPr wrap="non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Resolution tracking</a:t>
            </a:r>
            <a:endParaRPr lang="en-US" sz="816" dirty="0"/>
          </a:p>
        </p:txBody>
      </p:sp>
      <p:sp>
        <p:nvSpPr>
          <p:cNvPr id="58" name="Text 56"/>
          <p:cNvSpPr/>
          <p:nvPr/>
        </p:nvSpPr>
        <p:spPr>
          <a:xfrm>
            <a:off x="6524588" y="4323531"/>
            <a:ext cx="2104951" cy="248469"/>
          </a:xfrm>
          <a:prstGeom prst="rect">
            <a:avLst/>
          </a:prstGeom>
          <a:noFill/>
          <a:ln/>
        </p:spPr>
        <p:txBody>
          <a:bodyPr wrap="square" lIns="0" tIns="0" rIns="0" bIns="0" rtlCol="0" anchor="t"/>
          <a:lstStyle/>
          <a:p>
            <a:pPr algn="l" indent="0" marL="0">
              <a:lnSpc>
                <a:spcPts val="979"/>
              </a:lnSpc>
              <a:buNone/>
            </a:pPr>
            <a:r>
              <a:rPr lang="en-US" sz="800" dirty="0">
                <a:solidFill>
                  <a:srgbClr val="33463C"/>
                </a:solidFill>
                <a:latin typeface="Carlito" pitchFamily="34" charset="0"/>
                <a:ea typeface="Carlito" pitchFamily="34" charset="-122"/>
                <a:cs typeface="Carlito" pitchFamily="34" charset="-120"/>
              </a:rPr>
              <a:t>case states open → acknowledged → assigned → in_progress → verified_or_unconfirmed</a:t>
            </a:r>
            <a:endParaRPr lang="en-US" sz="800" dirty="0"/>
          </a:p>
        </p:txBody>
      </p:sp>
      <p:sp>
        <p:nvSpPr>
          <p:cNvPr id="59" name="Text 57"/>
          <p:cNvSpPr/>
          <p:nvPr/>
        </p:nvSpPr>
        <p:spPr>
          <a:xfrm>
            <a:off x="400050" y="4764881"/>
            <a:ext cx="8343900" cy="164592"/>
          </a:xfrm>
          <a:prstGeom prst="rect">
            <a:avLst/>
          </a:prstGeom>
          <a:noFill/>
          <a:ln/>
        </p:spPr>
        <p:txBody>
          <a:bodyPr wrap="square" lIns="0" tIns="0" rIns="0" bIns="0" rtlCol="0" anchor="t"/>
          <a:lstStyle/>
          <a:p>
            <a:pPr algn="ctr" indent="0" marL="0">
              <a:lnSpc>
                <a:spcPts val="1181"/>
              </a:lnSpc>
              <a:buNone/>
            </a:pPr>
            <a:r>
              <a:rPr lang="en-US" sz="800" i="1" dirty="0">
                <a:solidFill>
                  <a:srgbClr val="2E6650"/>
                </a:solidFill>
                <a:latin typeface="Carlito" pitchFamily="34" charset="0"/>
                <a:ea typeface="Carlito" pitchFamily="34" charset="-122"/>
                <a:cs typeface="Carlito" pitchFamily="34" charset="-120"/>
              </a:rPr>
              <a:t>Every technical step exists so that one family never learns the worst way.</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00050" y="328613"/>
            <a:ext cx="8636000" cy="292697"/>
          </a:xfrm>
          <a:prstGeom prst="rect">
            <a:avLst/>
          </a:prstGeom>
          <a:noFill/>
          <a:ln/>
        </p:spPr>
        <p:txBody>
          <a:bodyPr wrap="square" lIns="0" tIns="0" rIns="0" bIns="0" rtlCol="0" anchor="t"/>
          <a:lstStyle/>
          <a:p>
            <a:pPr algn="l" indent="0" marL="0">
              <a:lnSpc>
                <a:spcPts val="2135"/>
              </a:lnSpc>
              <a:buNone/>
            </a:pPr>
            <a:r>
              <a:rPr lang="en-US" sz="1856" b="1" spc="-28" kern="0" dirty="0">
                <a:solidFill>
                  <a:srgbClr val="1E4D3B"/>
                </a:solidFill>
                <a:latin typeface="Carlito" pitchFamily="34" charset="0"/>
                <a:ea typeface="Carlito" pitchFamily="34" charset="-122"/>
                <a:cs typeface="Carlito" pitchFamily="34" charset="-120"/>
              </a:rPr>
              <a:t>Accuracy &amp; Performance — Measured, Not Assumed</a:t>
            </a:r>
            <a:endParaRPr lang="en-US" sz="1856" dirty="0"/>
          </a:p>
        </p:txBody>
      </p:sp>
      <p:sp>
        <p:nvSpPr>
          <p:cNvPr id="3" name="Text 1"/>
          <p:cNvSpPr/>
          <p:nvPr/>
        </p:nvSpPr>
        <p:spPr>
          <a:xfrm>
            <a:off x="400050" y="663922"/>
            <a:ext cx="8343900" cy="167807"/>
          </a:xfrm>
          <a:prstGeom prst="rect">
            <a:avLst/>
          </a:prstGeom>
          <a:noFill/>
          <a:ln/>
        </p:spPr>
        <p:txBody>
          <a:bodyPr wrap="square" lIns="0" tIns="0" rIns="0" bIns="0" rtlCol="0" anchor="t"/>
          <a:lstStyle/>
          <a:p>
            <a:pPr algn="l" indent="0" marL="0">
              <a:lnSpc>
                <a:spcPts val="1223"/>
              </a:lnSpc>
              <a:buNone/>
            </a:pPr>
            <a:r>
              <a:rPr lang="en-US" sz="816" dirty="0">
                <a:solidFill>
                  <a:srgbClr val="2E6650"/>
                </a:solidFill>
                <a:latin typeface="Carlito" pitchFamily="34" charset="0"/>
                <a:ea typeface="Carlito" pitchFamily="34" charset="-122"/>
                <a:cs typeface="Carlito" pitchFamily="34" charset="-120"/>
              </a:rPr>
              <a:t>Every metric below is a prototype test target, evaluated per scenario with precision, recall and false alerts per hour.</a:t>
            </a:r>
            <a:endParaRPr lang="en-US" sz="816" dirty="0"/>
          </a:p>
        </p:txBody>
      </p:sp>
      <p:sp>
        <p:nvSpPr>
          <p:cNvPr id="4" name="Text 2"/>
          <p:cNvSpPr/>
          <p:nvPr/>
        </p:nvSpPr>
        <p:spPr>
          <a:xfrm>
            <a:off x="400050" y="962174"/>
            <a:ext cx="2714625" cy="1787947"/>
          </a:xfrm>
          <a:prstGeom prst="roundRect">
            <a:avLst>
              <a:gd name="adj" fmla="val 7458"/>
            </a:avLst>
          </a:prstGeom>
          <a:solidFill>
            <a:srgbClr val="1E4D3B"/>
          </a:solidFill>
          <a:ln/>
          <a:effectLst>
            <a:outerShdw sx="100000" sy="100000" kx="0" ky="0" algn="bl" rotWithShape="0" blurRad="209550" dist="76200" dir="5400000">
              <a:srgbClr val="143528">
                <a:alpha val="28000"/>
              </a:srgbClr>
            </a:outerShdw>
          </a:effectLst>
        </p:spPr>
        <p:txBody>
          <a:bodyPr wrap="square" rtlCol="0" anchor="ctr"/>
          <a:lstStyle/>
          <a:p>
            <a:pPr indent="0" marL="0">
              <a:buNone/>
            </a:pPr>
            <a:endParaRPr lang="en-US" dirty="0"/>
          </a:p>
        </p:txBody>
      </p:sp>
      <p:sp>
        <p:nvSpPr>
          <p:cNvPr id="5" name="Text 3"/>
          <p:cNvSpPr/>
          <p:nvPr/>
        </p:nvSpPr>
        <p:spPr>
          <a:xfrm>
            <a:off x="557213" y="1521842"/>
            <a:ext cx="285750" cy="285750"/>
          </a:xfrm>
          <a:prstGeom prst="roundRect">
            <a:avLst>
              <a:gd name="adj" fmla="val 36667"/>
            </a:avLst>
          </a:prstGeom>
          <a:solidFill>
            <a:srgbClr val="FBF9F4">
              <a:alpha val="14000"/>
            </a:srgbClr>
          </a:solidFill>
          <a:ln/>
        </p:spPr>
        <p:txBody>
          <a:bodyPr wrap="square" rtlCol="0" anchor="ctr"/>
          <a:lstStyle/>
          <a:p>
            <a:pPr indent="0" marL="0">
              <a:buNone/>
            </a:pPr>
            <a:endParaRPr lang="en-US" dirty="0"/>
          </a:p>
        </p:txBody>
      </p:sp>
      <p:sp>
        <p:nvSpPr>
          <p:cNvPr id="6" name="Text 4"/>
          <p:cNvSpPr/>
          <p:nvPr/>
        </p:nvSpPr>
        <p:spPr>
          <a:xfrm>
            <a:off x="586145" y="1550774"/>
            <a:ext cx="227886" cy="227886"/>
          </a:xfrm>
          <a:prstGeom prst="rect">
            <a:avLst/>
          </a:prstGeom>
          <a:noFill/>
          <a:ln/>
        </p:spPr>
        <p:txBody>
          <a:bodyPr wrap="none" lIns="0" tIns="0" rIns="0" bIns="0" rtlCol="0" anchor="ctr"/>
          <a:lstStyle/>
          <a:p>
            <a:pPr algn="ctr" indent="0" marL="0">
              <a:buNone/>
            </a:pPr>
            <a:r>
              <a:rPr lang="en-US" sz="1547" dirty="0">
                <a:solidFill>
                  <a:srgbClr val="E8B931"/>
                </a:solidFill>
                <a:latin typeface="Segoe UI Symbol" pitchFamily="34" charset="0"/>
                <a:ea typeface="Segoe UI Symbol" pitchFamily="34" charset="-122"/>
                <a:cs typeface="Segoe UI Symbol" pitchFamily="34" charset="-120"/>
              </a:rPr>
              <a:t>⚡</a:t>
            </a:r>
            <a:endParaRPr lang="en-US" sz="1547" dirty="0"/>
          </a:p>
        </p:txBody>
      </p:sp>
      <p:sp>
        <p:nvSpPr>
          <p:cNvPr id="7" name="Text 5"/>
          <p:cNvSpPr/>
          <p:nvPr/>
        </p:nvSpPr>
        <p:spPr>
          <a:xfrm>
            <a:off x="928688" y="1507554"/>
            <a:ext cx="2028825" cy="339471"/>
          </a:xfrm>
          <a:prstGeom prst="rect">
            <a:avLst/>
          </a:prstGeom>
          <a:noFill/>
          <a:ln/>
        </p:spPr>
        <p:txBody>
          <a:bodyPr wrap="none" lIns="0" tIns="0" rIns="0" bIns="0" rtlCol="0" anchor="t"/>
          <a:lstStyle/>
          <a:p>
            <a:pPr algn="l" indent="0" marL="0">
              <a:lnSpc>
                <a:spcPts val="2475"/>
              </a:lnSpc>
              <a:buNone/>
            </a:pPr>
            <a:r>
              <a:rPr lang="en-US" sz="2475" b="1" spc="-84" kern="0" dirty="0">
                <a:solidFill>
                  <a:srgbClr val="E8B931"/>
                </a:solidFill>
                <a:latin typeface="Liberation Sans Narrow" pitchFamily="34" charset="0"/>
                <a:ea typeface="Liberation Sans Narrow" pitchFamily="34" charset="-122"/>
                <a:cs typeface="Liberation Sans Narrow" pitchFamily="34" charset="-120"/>
              </a:rPr>
              <a:t>&lt; 10 s</a:t>
            </a:r>
            <a:endParaRPr lang="en-US" sz="2475" dirty="0"/>
          </a:p>
        </p:txBody>
      </p:sp>
      <p:sp>
        <p:nvSpPr>
          <p:cNvPr id="8" name="Text 6"/>
          <p:cNvSpPr/>
          <p:nvPr/>
        </p:nvSpPr>
        <p:spPr>
          <a:xfrm>
            <a:off x="557213" y="1879029"/>
            <a:ext cx="2510028" cy="145384"/>
          </a:xfrm>
          <a:prstGeom prst="rect">
            <a:avLst/>
          </a:prstGeom>
          <a:noFill/>
          <a:ln/>
        </p:spPr>
        <p:txBody>
          <a:bodyPr wrap="square" lIns="0" tIns="0" rIns="0" bIns="0" rtlCol="0" anchor="t"/>
          <a:lstStyle/>
          <a:p>
            <a:pPr algn="l" indent="0" marL="0">
              <a:lnSpc>
                <a:spcPts val="1060"/>
              </a:lnSpc>
              <a:buNone/>
            </a:pPr>
            <a:r>
              <a:rPr lang="en-US" sz="816" b="1" dirty="0">
                <a:solidFill>
                  <a:srgbClr val="FBF9F4"/>
                </a:solidFill>
                <a:latin typeface="Carlito" pitchFamily="34" charset="0"/>
                <a:ea typeface="Carlito" pitchFamily="34" charset="-122"/>
                <a:cs typeface="Carlito" pitchFamily="34" charset="-120"/>
              </a:rPr>
              <a:t>Detection-to-alarm target</a:t>
            </a:r>
            <a:endParaRPr lang="en-US" sz="816" dirty="0"/>
          </a:p>
        </p:txBody>
      </p:sp>
      <p:sp>
        <p:nvSpPr>
          <p:cNvPr id="9" name="Text 7"/>
          <p:cNvSpPr/>
          <p:nvPr/>
        </p:nvSpPr>
        <p:spPr>
          <a:xfrm>
            <a:off x="557213" y="2070795"/>
            <a:ext cx="2400300" cy="164592"/>
          </a:xfrm>
          <a:prstGeom prst="rect">
            <a:avLst/>
          </a:prstGeom>
          <a:noFill/>
          <a:ln/>
        </p:spPr>
        <p:txBody>
          <a:bodyPr wrap="square" lIns="0" tIns="0" rIns="0" bIns="0" rtlCol="0" anchor="t"/>
          <a:lstStyle/>
          <a:p>
            <a:pPr algn="l" indent="0" marL="0">
              <a:lnSpc>
                <a:spcPts val="1055"/>
              </a:lnSpc>
              <a:buNone/>
            </a:pPr>
            <a:r>
              <a:rPr lang="en-US" sz="703" dirty="0">
                <a:solidFill>
                  <a:srgbClr val="FBF9F4">
                    <a:alpha val="85000"/>
                  </a:srgbClr>
                </a:solidFill>
                <a:latin typeface="Carlito" pitchFamily="34" charset="0"/>
                <a:ea typeface="Carlito" pitchFamily="34" charset="-122"/>
                <a:cs typeface="Carlito" pitchFamily="34" charset="-120"/>
              </a:rPr>
              <a:t>from a labelled high-risk event to local alarm + phone alert</a:t>
            </a:r>
            <a:endParaRPr lang="en-US" sz="703" dirty="0"/>
          </a:p>
        </p:txBody>
      </p:sp>
      <p:sp>
        <p:nvSpPr>
          <p:cNvPr id="10" name="Text 8"/>
          <p:cNvSpPr/>
          <p:nvPr/>
        </p:nvSpPr>
        <p:spPr>
          <a:xfrm>
            <a:off x="3218259" y="965746"/>
            <a:ext cx="2707481" cy="1780803"/>
          </a:xfrm>
          <a:prstGeom prst="roundRect">
            <a:avLst>
              <a:gd name="adj" fmla="val 7488"/>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1" name="Text 9"/>
          <p:cNvSpPr/>
          <p:nvPr/>
        </p:nvSpPr>
        <p:spPr>
          <a:xfrm>
            <a:off x="3378994" y="1521842"/>
            <a:ext cx="285750" cy="285750"/>
          </a:xfrm>
          <a:prstGeom prst="roundRect">
            <a:avLst>
              <a:gd name="adj" fmla="val 36667"/>
            </a:avLst>
          </a:prstGeom>
          <a:solidFill>
            <a:srgbClr val="E4EFE6"/>
          </a:solidFill>
          <a:ln/>
        </p:spPr>
        <p:txBody>
          <a:bodyPr wrap="square" rtlCol="0" anchor="ctr"/>
          <a:lstStyle/>
          <a:p>
            <a:pPr indent="0" marL="0">
              <a:buNone/>
            </a:pPr>
            <a:endParaRPr lang="en-US" dirty="0"/>
          </a:p>
        </p:txBody>
      </p:sp>
      <p:sp>
        <p:nvSpPr>
          <p:cNvPr id="12" name="Text 10"/>
          <p:cNvSpPr/>
          <p:nvPr/>
        </p:nvSpPr>
        <p:spPr>
          <a:xfrm>
            <a:off x="3407926" y="1550774"/>
            <a:ext cx="227886" cy="227886"/>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13" name="Text 11"/>
          <p:cNvSpPr/>
          <p:nvPr/>
        </p:nvSpPr>
        <p:spPr>
          <a:xfrm>
            <a:off x="3750469" y="1507554"/>
            <a:ext cx="2014538" cy="339471"/>
          </a:xfrm>
          <a:prstGeom prst="rect">
            <a:avLst/>
          </a:prstGeom>
          <a:noFill/>
          <a:ln/>
        </p:spPr>
        <p:txBody>
          <a:bodyPr wrap="none" lIns="0" tIns="0" rIns="0" bIns="0" rtlCol="0" anchor="t"/>
          <a:lstStyle/>
          <a:p>
            <a:pPr algn="l" indent="0" marL="0">
              <a:lnSpc>
                <a:spcPts val="2475"/>
              </a:lnSpc>
              <a:buNone/>
            </a:pPr>
            <a:r>
              <a:rPr lang="en-US" sz="2475" b="1" spc="-84" kern="0" dirty="0">
                <a:solidFill>
                  <a:srgbClr val="1E4D3B"/>
                </a:solidFill>
                <a:latin typeface="Liberation Sans Narrow" pitchFamily="34" charset="0"/>
                <a:ea typeface="Liberation Sans Narrow" pitchFamily="34" charset="-122"/>
                <a:cs typeface="Liberation Sans Narrow" pitchFamily="34" charset="-120"/>
              </a:rPr>
              <a:t>≥ 90%</a:t>
            </a:r>
            <a:endParaRPr lang="en-US" sz="2475" dirty="0"/>
          </a:p>
        </p:txBody>
      </p:sp>
      <p:sp>
        <p:nvSpPr>
          <p:cNvPr id="14" name="Text 12"/>
          <p:cNvSpPr/>
          <p:nvPr/>
        </p:nvSpPr>
        <p:spPr>
          <a:xfrm>
            <a:off x="3378994" y="1879029"/>
            <a:ext cx="2495741" cy="145384"/>
          </a:xfrm>
          <a:prstGeom prst="rect">
            <a:avLst/>
          </a:prstGeom>
          <a:noFill/>
          <a:ln/>
        </p:spPr>
        <p:txBody>
          <a:bodyPr wrap="square" lIns="0" tIns="0" rIns="0" bIns="0" rtlCol="0" anchor="t"/>
          <a:lstStyle/>
          <a:p>
            <a:pPr algn="l" indent="0" marL="0">
              <a:lnSpc>
                <a:spcPts val="1060"/>
              </a:lnSpc>
              <a:buNone/>
            </a:pPr>
            <a:r>
              <a:rPr lang="en-US" sz="816" b="1" dirty="0">
                <a:solidFill>
                  <a:srgbClr val="33463C"/>
                </a:solidFill>
                <a:latin typeface="Carlito" pitchFamily="34" charset="0"/>
                <a:ea typeface="Carlito" pitchFamily="34" charset="-122"/>
                <a:cs typeface="Carlito" pitchFamily="34" charset="-120"/>
              </a:rPr>
              <a:t>Target precision on zone-entry detections</a:t>
            </a:r>
            <a:endParaRPr lang="en-US" sz="816" dirty="0"/>
          </a:p>
        </p:txBody>
      </p:sp>
      <p:sp>
        <p:nvSpPr>
          <p:cNvPr id="15" name="Text 13"/>
          <p:cNvSpPr/>
          <p:nvPr/>
        </p:nvSpPr>
        <p:spPr>
          <a:xfrm>
            <a:off x="3378994" y="2070795"/>
            <a:ext cx="2495741" cy="164592"/>
          </a:xfrm>
          <a:prstGeom prst="rect">
            <a:avLst/>
          </a:prstGeom>
          <a:noFill/>
          <a:ln/>
        </p:spPr>
        <p:txBody>
          <a:bodyPr wrap="square" lIns="0" tIns="0" rIns="0" bIns="0" rtlCol="0" anchor="t"/>
          <a:lstStyle/>
          <a:p>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protecting parents from alert fatigue</a:t>
            </a:r>
            <a:endParaRPr lang="en-US" sz="800" dirty="0"/>
          </a:p>
        </p:txBody>
      </p:sp>
      <p:sp>
        <p:nvSpPr>
          <p:cNvPr id="16" name="Text 14"/>
          <p:cNvSpPr/>
          <p:nvPr/>
        </p:nvSpPr>
        <p:spPr>
          <a:xfrm>
            <a:off x="6032897" y="965746"/>
            <a:ext cx="2707481" cy="1780803"/>
          </a:xfrm>
          <a:prstGeom prst="roundRect">
            <a:avLst>
              <a:gd name="adj" fmla="val 7488"/>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7" name="Text 15"/>
          <p:cNvSpPr/>
          <p:nvPr/>
        </p:nvSpPr>
        <p:spPr>
          <a:xfrm>
            <a:off x="6193631" y="1521842"/>
            <a:ext cx="285750" cy="285750"/>
          </a:xfrm>
          <a:prstGeom prst="roundRect">
            <a:avLst>
              <a:gd name="adj" fmla="val 36667"/>
            </a:avLst>
          </a:prstGeom>
          <a:solidFill>
            <a:srgbClr val="E4EFE6"/>
          </a:solidFill>
          <a:ln/>
        </p:spPr>
        <p:txBody>
          <a:bodyPr wrap="square" rtlCol="0" anchor="ctr"/>
          <a:lstStyle/>
          <a:p>
            <a:pPr indent="0" marL="0">
              <a:buNone/>
            </a:pPr>
            <a:endParaRPr lang="en-US" dirty="0"/>
          </a:p>
        </p:txBody>
      </p:sp>
      <p:sp>
        <p:nvSpPr>
          <p:cNvPr id="18" name="Text 16"/>
          <p:cNvSpPr/>
          <p:nvPr/>
        </p:nvSpPr>
        <p:spPr>
          <a:xfrm>
            <a:off x="6222563" y="1550774"/>
            <a:ext cx="227886" cy="227886"/>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6565106" y="1507554"/>
            <a:ext cx="2014538" cy="339471"/>
          </a:xfrm>
          <a:prstGeom prst="rect">
            <a:avLst/>
          </a:prstGeom>
          <a:noFill/>
          <a:ln/>
        </p:spPr>
        <p:txBody>
          <a:bodyPr wrap="none" lIns="0" tIns="0" rIns="0" bIns="0" rtlCol="0" anchor="t"/>
          <a:lstStyle/>
          <a:p>
            <a:pPr algn="l" indent="0" marL="0">
              <a:lnSpc>
                <a:spcPts val="2475"/>
              </a:lnSpc>
              <a:buNone/>
            </a:pPr>
            <a:r>
              <a:rPr lang="en-US" sz="2475" b="1" spc="-84" kern="0" dirty="0">
                <a:solidFill>
                  <a:srgbClr val="1E4D3B"/>
                </a:solidFill>
                <a:latin typeface="Liberation Sans Narrow" pitchFamily="34" charset="0"/>
                <a:ea typeface="Liberation Sans Narrow" pitchFamily="34" charset="-122"/>
                <a:cs typeface="Liberation Sans Narrow" pitchFamily="34" charset="-120"/>
              </a:rPr>
              <a:t>&lt; 1 / hr</a:t>
            </a:r>
            <a:endParaRPr lang="en-US" sz="2475" dirty="0"/>
          </a:p>
        </p:txBody>
      </p:sp>
      <p:sp>
        <p:nvSpPr>
          <p:cNvPr id="20" name="Text 18"/>
          <p:cNvSpPr/>
          <p:nvPr/>
        </p:nvSpPr>
        <p:spPr>
          <a:xfrm>
            <a:off x="6193631" y="1879029"/>
            <a:ext cx="2495740" cy="145384"/>
          </a:xfrm>
          <a:prstGeom prst="rect">
            <a:avLst/>
          </a:prstGeom>
          <a:noFill/>
          <a:ln/>
        </p:spPr>
        <p:txBody>
          <a:bodyPr wrap="square" lIns="0" tIns="0" rIns="0" bIns="0" rtlCol="0" anchor="t"/>
          <a:lstStyle/>
          <a:p>
            <a:pPr algn="l" indent="0" marL="0">
              <a:lnSpc>
                <a:spcPts val="1060"/>
              </a:lnSpc>
              <a:buNone/>
            </a:pPr>
            <a:r>
              <a:rPr lang="en-US" sz="816" b="1" dirty="0">
                <a:solidFill>
                  <a:srgbClr val="33463C"/>
                </a:solidFill>
                <a:latin typeface="Carlito" pitchFamily="34" charset="0"/>
                <a:ea typeface="Carlito" pitchFamily="34" charset="-122"/>
                <a:cs typeface="Carlito" pitchFamily="34" charset="-120"/>
              </a:rPr>
              <a:t>False-alert target per camera</a:t>
            </a:r>
            <a:endParaRPr lang="en-US" sz="816" dirty="0"/>
          </a:p>
        </p:txBody>
      </p:sp>
      <p:sp>
        <p:nvSpPr>
          <p:cNvPr id="21" name="Text 19"/>
          <p:cNvSpPr/>
          <p:nvPr/>
        </p:nvSpPr>
        <p:spPr>
          <a:xfrm>
            <a:off x="6193631" y="2070795"/>
            <a:ext cx="2386012" cy="164592"/>
          </a:xfrm>
          <a:prstGeom prst="rect">
            <a:avLst/>
          </a:prstGeom>
          <a:noFill/>
          <a:ln/>
        </p:spPr>
        <p:txBody>
          <a:bodyPr wrap="none" lIns="0" tIns="0" rIns="0" bIns="0" rtlCol="0" anchor="t"/>
          <a:lstStyle/>
          <a:p>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in steady-state home use</a:t>
            </a:r>
            <a:endParaRPr lang="en-US" sz="800" dirty="0"/>
          </a:p>
        </p:txBody>
      </p:sp>
      <p:sp>
        <p:nvSpPr>
          <p:cNvPr id="22" name="Text 20"/>
          <p:cNvSpPr/>
          <p:nvPr/>
        </p:nvSpPr>
        <p:spPr>
          <a:xfrm>
            <a:off x="403622" y="2853705"/>
            <a:ext cx="2707481" cy="1780803"/>
          </a:xfrm>
          <a:prstGeom prst="roundRect">
            <a:avLst>
              <a:gd name="adj" fmla="val 7488"/>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3" name="Text 21"/>
          <p:cNvSpPr/>
          <p:nvPr/>
        </p:nvSpPr>
        <p:spPr>
          <a:xfrm>
            <a:off x="564356" y="3409801"/>
            <a:ext cx="285750" cy="285750"/>
          </a:xfrm>
          <a:prstGeom prst="roundRect">
            <a:avLst>
              <a:gd name="adj" fmla="val 36667"/>
            </a:avLst>
          </a:prstGeom>
          <a:solidFill>
            <a:srgbClr val="FBF3DC"/>
          </a:solidFill>
          <a:ln/>
        </p:spPr>
        <p:txBody>
          <a:bodyPr wrap="square" rtlCol="0" anchor="ctr"/>
          <a:lstStyle/>
          <a:p>
            <a:pPr indent="0" marL="0">
              <a:buNone/>
            </a:pPr>
            <a:endParaRPr lang="en-US" dirty="0"/>
          </a:p>
        </p:txBody>
      </p:sp>
      <p:sp>
        <p:nvSpPr>
          <p:cNvPr id="24" name="Text 22"/>
          <p:cNvSpPr/>
          <p:nvPr/>
        </p:nvSpPr>
        <p:spPr>
          <a:xfrm>
            <a:off x="593288" y="3438733"/>
            <a:ext cx="227886" cy="227886"/>
          </a:xfrm>
          <a:prstGeom prst="rect">
            <a:avLst/>
          </a:prstGeom>
          <a:noFill/>
          <a:ln/>
        </p:spPr>
        <p:txBody>
          <a:bodyPr wrap="none" lIns="0" tIns="0" rIns="0" bIns="0" rtlCol="0" anchor="ctr"/>
          <a:lstStyle/>
          <a:p>
            <a:pPr algn="ctr" indent="0" marL="0">
              <a:buNone/>
            </a:pPr>
            <a:r>
              <a:rPr lang="en-US" sz="1547" dirty="0">
                <a:solidFill>
                  <a:srgbClr val="8F6E12"/>
                </a:solidFill>
                <a:latin typeface="Segoe UI Symbol" pitchFamily="34" charset="0"/>
                <a:ea typeface="Segoe UI Symbol" pitchFamily="34" charset="-122"/>
                <a:cs typeface="Segoe UI Symbol" pitchFamily="34" charset="-120"/>
              </a:rPr>
              <a:t>◖</a:t>
            </a:r>
            <a:endParaRPr lang="en-US" sz="1547" dirty="0"/>
          </a:p>
        </p:txBody>
      </p:sp>
      <p:sp>
        <p:nvSpPr>
          <p:cNvPr id="25" name="Text 23"/>
          <p:cNvSpPr/>
          <p:nvPr/>
        </p:nvSpPr>
        <p:spPr>
          <a:xfrm>
            <a:off x="935831" y="3395514"/>
            <a:ext cx="2014538" cy="339471"/>
          </a:xfrm>
          <a:prstGeom prst="rect">
            <a:avLst/>
          </a:prstGeom>
          <a:noFill/>
          <a:ln/>
        </p:spPr>
        <p:txBody>
          <a:bodyPr wrap="none" lIns="0" tIns="0" rIns="0" bIns="0" rtlCol="0" anchor="t"/>
          <a:lstStyle/>
          <a:p>
            <a:pPr algn="l" indent="0" marL="0">
              <a:lnSpc>
                <a:spcPts val="2475"/>
              </a:lnSpc>
              <a:buNone/>
            </a:pPr>
            <a:r>
              <a:rPr lang="en-US" sz="2475" b="1" spc="-84" kern="0" dirty="0">
                <a:solidFill>
                  <a:srgbClr val="8F6E12"/>
                </a:solidFill>
                <a:latin typeface="Liberation Sans Narrow" pitchFamily="34" charset="0"/>
                <a:ea typeface="Liberation Sans Narrow" pitchFamily="34" charset="-122"/>
                <a:cs typeface="Liberation Sans Narrow" pitchFamily="34" charset="-120"/>
              </a:rPr>
              <a:t>100%</a:t>
            </a:r>
            <a:endParaRPr lang="en-US" sz="2475" dirty="0"/>
          </a:p>
        </p:txBody>
      </p:sp>
      <p:sp>
        <p:nvSpPr>
          <p:cNvPr id="26" name="Text 24"/>
          <p:cNvSpPr/>
          <p:nvPr/>
        </p:nvSpPr>
        <p:spPr>
          <a:xfrm>
            <a:off x="564356" y="3766989"/>
            <a:ext cx="2495741" cy="145384"/>
          </a:xfrm>
          <a:prstGeom prst="rect">
            <a:avLst/>
          </a:prstGeom>
          <a:noFill/>
          <a:ln/>
        </p:spPr>
        <p:txBody>
          <a:bodyPr wrap="square" lIns="0" tIns="0" rIns="0" bIns="0" rtlCol="0" anchor="t"/>
          <a:lstStyle/>
          <a:p>
            <a:pPr algn="l" indent="0" marL="0">
              <a:lnSpc>
                <a:spcPts val="1060"/>
              </a:lnSpc>
              <a:buNone/>
            </a:pPr>
            <a:r>
              <a:rPr lang="en-US" sz="816" b="1" dirty="0">
                <a:solidFill>
                  <a:srgbClr val="33463C"/>
                </a:solidFill>
                <a:latin typeface="Carlito" pitchFamily="34" charset="0"/>
                <a:ea typeface="Carlito" pitchFamily="34" charset="-122"/>
                <a:cs typeface="Carlito" pitchFamily="34" charset="-120"/>
              </a:rPr>
              <a:t>Unanswered urgent alerts escalate</a:t>
            </a:r>
            <a:endParaRPr lang="en-US" sz="816" dirty="0"/>
          </a:p>
        </p:txBody>
      </p:sp>
      <p:sp>
        <p:nvSpPr>
          <p:cNvPr id="27" name="Text 25"/>
          <p:cNvSpPr/>
          <p:nvPr/>
        </p:nvSpPr>
        <p:spPr>
          <a:xfrm>
            <a:off x="564356" y="3958754"/>
            <a:ext cx="2495741" cy="164592"/>
          </a:xfrm>
          <a:prstGeom prst="rect">
            <a:avLst/>
          </a:prstGeom>
          <a:noFill/>
          <a:ln/>
        </p:spPr>
        <p:txBody>
          <a:bodyPr wrap="square" lIns="0" tIns="0" rIns="0" bIns="0" rtlCol="0" anchor="t"/>
          <a:lstStyle/>
          <a:p>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along the pre-agreed emergency plan, always</a:t>
            </a:r>
            <a:endParaRPr lang="en-US" sz="800" dirty="0"/>
          </a:p>
        </p:txBody>
      </p:sp>
      <p:sp>
        <p:nvSpPr>
          <p:cNvPr id="28" name="Text 26"/>
          <p:cNvSpPr/>
          <p:nvPr/>
        </p:nvSpPr>
        <p:spPr>
          <a:xfrm>
            <a:off x="3218259" y="2853705"/>
            <a:ext cx="2707481" cy="1780803"/>
          </a:xfrm>
          <a:prstGeom prst="roundRect">
            <a:avLst>
              <a:gd name="adj" fmla="val 7488"/>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9" name="Text 27"/>
          <p:cNvSpPr/>
          <p:nvPr/>
        </p:nvSpPr>
        <p:spPr>
          <a:xfrm>
            <a:off x="3378994" y="3342829"/>
            <a:ext cx="285750" cy="285750"/>
          </a:xfrm>
          <a:prstGeom prst="roundRect">
            <a:avLst>
              <a:gd name="adj" fmla="val 36667"/>
            </a:avLst>
          </a:prstGeom>
          <a:solidFill>
            <a:srgbClr val="E4EFE6"/>
          </a:solidFill>
          <a:ln/>
        </p:spPr>
        <p:txBody>
          <a:bodyPr wrap="square" rtlCol="0" anchor="ctr"/>
          <a:lstStyle/>
          <a:p>
            <a:pPr indent="0" marL="0">
              <a:buNone/>
            </a:pPr>
            <a:endParaRPr lang="en-US" dirty="0"/>
          </a:p>
        </p:txBody>
      </p:sp>
      <p:sp>
        <p:nvSpPr>
          <p:cNvPr id="30" name="Text 28"/>
          <p:cNvSpPr/>
          <p:nvPr/>
        </p:nvSpPr>
        <p:spPr>
          <a:xfrm>
            <a:off x="3407926" y="3371761"/>
            <a:ext cx="227886" cy="227886"/>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31" name="Text 29"/>
          <p:cNvSpPr/>
          <p:nvPr/>
        </p:nvSpPr>
        <p:spPr>
          <a:xfrm>
            <a:off x="3750469" y="3388147"/>
            <a:ext cx="2014538" cy="210602"/>
          </a:xfrm>
          <a:prstGeom prst="rect">
            <a:avLst/>
          </a:prstGeom>
          <a:noFill/>
          <a:ln/>
        </p:spPr>
        <p:txBody>
          <a:bodyPr wrap="none" lIns="0" tIns="0" rIns="0" bIns="0" rtlCol="0" anchor="t"/>
          <a:lstStyle/>
          <a:p>
            <a:pPr algn="l" indent="0" marL="0">
              <a:lnSpc>
                <a:spcPts val="1536"/>
              </a:lnSpc>
              <a:buNone/>
            </a:pPr>
            <a:r>
              <a:rPr lang="en-US" sz="1463" b="1" spc="-28" kern="0" dirty="0">
                <a:solidFill>
                  <a:srgbClr val="1E4D3B"/>
                </a:solidFill>
                <a:latin typeface="Carlito" pitchFamily="34" charset="0"/>
                <a:ea typeface="Carlito" pitchFamily="34" charset="-122"/>
                <a:cs typeface="Carlito" pitchFamily="34" charset="-120"/>
              </a:rPr>
              <a:t>Fairness-tested</a:t>
            </a:r>
            <a:endParaRPr lang="en-US" sz="1463" dirty="0"/>
          </a:p>
        </p:txBody>
      </p:sp>
      <p:sp>
        <p:nvSpPr>
          <p:cNvPr id="32" name="Text 30"/>
          <p:cNvSpPr/>
          <p:nvPr/>
        </p:nvSpPr>
        <p:spPr>
          <a:xfrm>
            <a:off x="3378994" y="3685729"/>
            <a:ext cx="2495741" cy="145384"/>
          </a:xfrm>
          <a:prstGeom prst="rect">
            <a:avLst/>
          </a:prstGeom>
          <a:noFill/>
          <a:ln/>
        </p:spPr>
        <p:txBody>
          <a:bodyPr wrap="square" lIns="0" tIns="0" rIns="0" bIns="0" rtlCol="0" anchor="t"/>
          <a:lstStyle/>
          <a:p>
            <a:pPr algn="l" indent="0" marL="0">
              <a:lnSpc>
                <a:spcPts val="1060"/>
              </a:lnSpc>
              <a:buNone/>
            </a:pPr>
            <a:r>
              <a:rPr lang="en-US" sz="816" b="1" dirty="0">
                <a:solidFill>
                  <a:srgbClr val="33463C"/>
                </a:solidFill>
                <a:latin typeface="Carlito" pitchFamily="34" charset="0"/>
                <a:ea typeface="Carlito" pitchFamily="34" charset="-122"/>
                <a:cs typeface="Carlito" pitchFamily="34" charset="-120"/>
              </a:rPr>
              <a:t>Robustness across conditions</a:t>
            </a:r>
            <a:endParaRPr lang="en-US" sz="816" dirty="0"/>
          </a:p>
        </p:txBody>
      </p:sp>
      <p:sp>
        <p:nvSpPr>
          <p:cNvPr id="33" name="Text 31"/>
          <p:cNvSpPr/>
          <p:nvPr/>
        </p:nvSpPr>
        <p:spPr>
          <a:xfrm>
            <a:off x="3378994" y="3877494"/>
            <a:ext cx="2386013" cy="329184"/>
          </a:xfrm>
          <a:prstGeom prst="rect">
            <a:avLst/>
          </a:prstGeom>
          <a:noFill/>
          <a:ln/>
        </p:spPr>
        <p:txBody>
          <a:bodyPr wrap="square" lIns="0" tIns="0" rIns="0" bIns="0" rtlCol="0" anchor="t"/>
          <a:lstStyle/>
          <a:p>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low light, occlusion, camera angles and skin tones — accuracy checked for every household</a:t>
            </a:r>
            <a:endParaRPr lang="en-US" sz="800" dirty="0"/>
          </a:p>
        </p:txBody>
      </p:sp>
      <p:sp>
        <p:nvSpPr>
          <p:cNvPr id="34" name="Text 32"/>
          <p:cNvSpPr/>
          <p:nvPr/>
        </p:nvSpPr>
        <p:spPr>
          <a:xfrm>
            <a:off x="6032897" y="2853705"/>
            <a:ext cx="2707481" cy="1780803"/>
          </a:xfrm>
          <a:prstGeom prst="roundRect">
            <a:avLst>
              <a:gd name="adj" fmla="val 7488"/>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35" name="Text 33"/>
          <p:cNvSpPr/>
          <p:nvPr/>
        </p:nvSpPr>
        <p:spPr>
          <a:xfrm>
            <a:off x="6193631" y="3342829"/>
            <a:ext cx="285750" cy="285750"/>
          </a:xfrm>
          <a:prstGeom prst="roundRect">
            <a:avLst>
              <a:gd name="adj" fmla="val 36667"/>
            </a:avLst>
          </a:prstGeom>
          <a:solidFill>
            <a:srgbClr val="E4EFE6"/>
          </a:solidFill>
          <a:ln/>
        </p:spPr>
        <p:txBody>
          <a:bodyPr wrap="square" rtlCol="0" anchor="ctr"/>
          <a:lstStyle/>
          <a:p>
            <a:pPr indent="0" marL="0">
              <a:buNone/>
            </a:pPr>
            <a:endParaRPr lang="en-US" dirty="0"/>
          </a:p>
        </p:txBody>
      </p:sp>
      <p:sp>
        <p:nvSpPr>
          <p:cNvPr id="36" name="Text 34"/>
          <p:cNvSpPr/>
          <p:nvPr/>
        </p:nvSpPr>
        <p:spPr>
          <a:xfrm>
            <a:off x="6222563" y="3371761"/>
            <a:ext cx="227886" cy="227886"/>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37" name="Text 35"/>
          <p:cNvSpPr/>
          <p:nvPr/>
        </p:nvSpPr>
        <p:spPr>
          <a:xfrm>
            <a:off x="6565106" y="3388147"/>
            <a:ext cx="2014538" cy="210602"/>
          </a:xfrm>
          <a:prstGeom prst="rect">
            <a:avLst/>
          </a:prstGeom>
          <a:noFill/>
          <a:ln/>
        </p:spPr>
        <p:txBody>
          <a:bodyPr wrap="none" lIns="0" tIns="0" rIns="0" bIns="0" rtlCol="0" anchor="t"/>
          <a:lstStyle/>
          <a:p>
            <a:pPr algn="l" indent="0" marL="0">
              <a:lnSpc>
                <a:spcPts val="1536"/>
              </a:lnSpc>
              <a:buNone/>
            </a:pPr>
            <a:r>
              <a:rPr lang="en-US" sz="1463" b="1" spc="-28" kern="0" dirty="0">
                <a:solidFill>
                  <a:srgbClr val="1E4D3B"/>
                </a:solidFill>
                <a:latin typeface="Carlito" pitchFamily="34" charset="0"/>
                <a:ea typeface="Carlito" pitchFamily="34" charset="-122"/>
                <a:cs typeface="Carlito" pitchFamily="34" charset="-120"/>
              </a:rPr>
              <a:t>Privacy-first</a:t>
            </a:r>
            <a:endParaRPr lang="en-US" sz="1463" dirty="0"/>
          </a:p>
        </p:txBody>
      </p:sp>
      <p:sp>
        <p:nvSpPr>
          <p:cNvPr id="38" name="Text 36"/>
          <p:cNvSpPr/>
          <p:nvPr/>
        </p:nvSpPr>
        <p:spPr>
          <a:xfrm>
            <a:off x="6193631" y="3685729"/>
            <a:ext cx="2386012" cy="145384"/>
          </a:xfrm>
          <a:prstGeom prst="rect">
            <a:avLst/>
          </a:prstGeom>
          <a:noFill/>
          <a:ln/>
        </p:spPr>
        <p:txBody>
          <a:bodyPr wrap="none" lIns="0" tIns="0" rIns="0" bIns="0" rtlCol="0" anchor="t"/>
          <a:lstStyle/>
          <a:p>
            <a:pPr algn="l" indent="0" marL="0">
              <a:lnSpc>
                <a:spcPts val="1060"/>
              </a:lnSpc>
              <a:buNone/>
            </a:pPr>
            <a:r>
              <a:rPr lang="en-US" sz="816" b="1" dirty="0">
                <a:solidFill>
                  <a:srgbClr val="33463C"/>
                </a:solidFill>
                <a:latin typeface="Carlito" pitchFamily="34" charset="0"/>
                <a:ea typeface="Carlito" pitchFamily="34" charset="-122"/>
                <a:cs typeface="Carlito" pitchFamily="34" charset="-120"/>
              </a:rPr>
              <a:t>Data minimisation</a:t>
            </a:r>
            <a:endParaRPr lang="en-US" sz="816" dirty="0"/>
          </a:p>
        </p:txBody>
      </p:sp>
      <p:sp>
        <p:nvSpPr>
          <p:cNvPr id="39" name="Text 37"/>
          <p:cNvSpPr/>
          <p:nvPr/>
        </p:nvSpPr>
        <p:spPr>
          <a:xfrm>
            <a:off x="6193631" y="3877494"/>
            <a:ext cx="2386013" cy="329184"/>
          </a:xfrm>
          <a:prstGeom prst="rect">
            <a:avLst/>
          </a:prstGeom>
          <a:noFill/>
          <a:ln/>
        </p:spPr>
        <p:txBody>
          <a:bodyPr wrap="square" lIns="0" tIns="0" rIns="0" bIns="0" rtlCol="0" anchor="t"/>
          <a:lstStyle/>
          <a:p>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local processing, short event clips only, no facial identification</a:t>
            </a:r>
            <a:endParaRPr lang="en-US" sz="800" dirty="0"/>
          </a:p>
        </p:txBody>
      </p:sp>
      <p:sp>
        <p:nvSpPr>
          <p:cNvPr id="40" name="Text 38"/>
          <p:cNvSpPr/>
          <p:nvPr/>
        </p:nvSpPr>
        <p:spPr>
          <a:xfrm>
            <a:off x="1500634" y="4766667"/>
            <a:ext cx="6307038" cy="100013"/>
          </a:xfrm>
          <a:prstGeom prst="rect">
            <a:avLst/>
          </a:prstGeom>
          <a:noFill/>
          <a:ln/>
        </p:spPr>
        <p:txBody>
          <a:bodyPr wrap="square" lIns="0" tIns="0" rIns="0" bIns="0" rtlCol="0" anchor="ctr"/>
          <a:lstStyle/>
          <a:p>
            <a:pPr algn="ctr" indent="0" marL="0">
              <a:lnSpc>
                <a:spcPts val="1055"/>
              </a:lnSpc>
              <a:buNone/>
            </a:pPr>
            <a:r>
              <a:rPr lang="en-US" sz="800" i="1" dirty="0">
                <a:solidFill>
                  <a:srgbClr val="2E6650"/>
                </a:solidFill>
                <a:latin typeface="Carlito" pitchFamily="34" charset="0"/>
                <a:ea typeface="Carlito" pitchFamily="34" charset="-122"/>
                <a:cs typeface="Carlito" pitchFamily="34" charset="-120"/>
              </a:rPr>
              <a:t>All metrics are prototype targets, validated per defined test scenario before any real deployment — including failure cases, network loss and sensor-offline drills.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377190" y="317254"/>
            <a:ext cx="1399126" cy="212027"/>
          </a:xfrm>
          <a:prstGeom prst="roundRect">
            <a:avLst>
              <a:gd name="adj" fmla="val 4487860"/>
            </a:avLst>
          </a:prstGeom>
          <a:solidFill>
            <a:srgbClr val="E4EFE6"/>
          </a:solidFill>
          <a:ln/>
        </p:spPr>
        <p:txBody>
          <a:bodyPr wrap="square" rtlCol="0" anchor="ctr"/>
          <a:lstStyle/>
          <a:p>
            <a:pPr indent="0" marL="0">
              <a:buNone/>
            </a:pPr>
            <a:endParaRPr lang="en-US" dirty="0"/>
          </a:p>
        </p:txBody>
      </p:sp>
      <p:sp>
        <p:nvSpPr>
          <p:cNvPr id="3" name="Text 1"/>
          <p:cNvSpPr/>
          <p:nvPr/>
        </p:nvSpPr>
        <p:spPr>
          <a:xfrm>
            <a:off x="650081" y="378619"/>
            <a:ext cx="1003362" cy="119703"/>
          </a:xfrm>
          <a:prstGeom prst="rect">
            <a:avLst/>
          </a:prstGeom>
          <a:noFill/>
          <a:ln/>
        </p:spPr>
        <p:txBody>
          <a:bodyPr wrap="none" lIns="0" tIns="0" rIns="0" bIns="0" rtlCol="0" anchor="t"/>
          <a:lstStyle/>
          <a:p>
            <a:pPr algn="l" indent="0" marL="0">
              <a:lnSpc>
                <a:spcPts val="928"/>
              </a:lnSpc>
              <a:buNone/>
            </a:pPr>
            <a:r>
              <a:rPr lang="en-US" sz="619" b="1" spc="101" kern="0" dirty="0">
                <a:solidFill>
                  <a:srgbClr val="1E4D3B"/>
                </a:solidFill>
                <a:latin typeface="Carlito" pitchFamily="34" charset="0"/>
                <a:ea typeface="Carlito" pitchFamily="34" charset="-122"/>
                <a:cs typeface="Carlito" pitchFamily="34" charset="-120"/>
              </a:rPr>
              <a:t>PROJECTED IMPACT</a:t>
            </a:r>
            <a:endParaRPr lang="en-US" sz="619" dirty="0"/>
          </a:p>
        </p:txBody>
      </p:sp>
      <p:sp>
        <p:nvSpPr>
          <p:cNvPr id="4" name="Text 2"/>
          <p:cNvSpPr/>
          <p:nvPr/>
        </p:nvSpPr>
        <p:spPr>
          <a:xfrm>
            <a:off x="500063" y="369689"/>
            <a:ext cx="107156" cy="107156"/>
          </a:xfrm>
          <a:prstGeom prst="rect">
            <a:avLst/>
          </a:prstGeom>
          <a:noFill/>
          <a:ln/>
        </p:spPr>
        <p:txBody>
          <a:bodyPr wrap="none" lIns="0" tIns="0" rIns="0" bIns="0" rtlCol="0" anchor="ctr"/>
          <a:lstStyle/>
          <a:p>
            <a:pPr algn="ctr" indent="0" marL="0">
              <a:buNone/>
            </a:pPr>
            <a:r>
              <a:rPr lang="en-US" sz="1055" dirty="0">
                <a:solidFill>
                  <a:srgbClr val="8F6E12"/>
                </a:solidFill>
                <a:latin typeface="Segoe UI Symbol" pitchFamily="34" charset="0"/>
                <a:ea typeface="Segoe UI Symbol" pitchFamily="34" charset="-122"/>
                <a:cs typeface="Segoe UI Symbol" pitchFamily="34" charset="-120"/>
              </a:rPr>
              <a:t>↗</a:t>
            </a:r>
            <a:endParaRPr lang="en-US" sz="1055" dirty="0"/>
          </a:p>
        </p:txBody>
      </p:sp>
      <p:sp>
        <p:nvSpPr>
          <p:cNvPr id="5" name="Text 3"/>
          <p:cNvSpPr/>
          <p:nvPr/>
        </p:nvSpPr>
        <p:spPr>
          <a:xfrm>
            <a:off x="400050" y="625078"/>
            <a:ext cx="4777606" cy="1081702"/>
          </a:xfrm>
          <a:prstGeom prst="rect">
            <a:avLst/>
          </a:prstGeom>
          <a:noFill/>
          <a:ln/>
        </p:spPr>
        <p:txBody>
          <a:bodyPr wrap="square" lIns="0" tIns="0" rIns="0" bIns="0" rtlCol="0" anchor="t"/>
          <a:lstStyle/>
          <a:p>
            <a:pPr algn="l" indent="0" marL="0">
              <a:lnSpc>
                <a:spcPts val="2629"/>
              </a:lnSpc>
              <a:buNone/>
            </a:pPr>
            <a:r>
              <a:rPr lang="en-US" sz="2306" b="1" spc="-56" kern="0" dirty="0">
                <a:solidFill>
                  <a:srgbClr val="1E4D3B"/>
                </a:solidFill>
                <a:latin typeface="Carlito" pitchFamily="34" charset="0"/>
                <a:ea typeface="Carlito" pitchFamily="34" charset="-122"/>
                <a:cs typeface="Carlito" pitchFamily="34" charset="-120"/>
              </a:rPr>
              <a:t>Up to </a:t>
            </a:r>
            <a:pPr algn="l" indent="0" marL="0">
              <a:lnSpc>
                <a:spcPts val="2629"/>
              </a:lnSpc>
              <a:buNone/>
            </a:pPr>
            <a:r>
              <a:rPr lang="en-US" sz="2306" b="1" spc="-56" kern="0" dirty="0">
                <a:solidFill>
                  <a:srgbClr val="8F6E12"/>
                </a:solidFill>
                <a:latin typeface="Liberation Sans Narrow" pitchFamily="34" charset="0"/>
                <a:ea typeface="Liberation Sans Narrow" pitchFamily="34" charset="-122"/>
                <a:cs typeface="Liberation Sans Narrow" pitchFamily="34" charset="-120"/>
              </a:rPr>
              <a:t>~70%</a:t>
            </a:r>
            <a:pPr algn="l" indent="0" marL="0">
              <a:lnSpc>
                <a:spcPts val="2629"/>
              </a:lnSpc>
              <a:buNone/>
            </a:pPr>
            <a:r>
              <a:rPr lang="en-US" sz="2306" b="1" spc="-56" kern="0" dirty="0">
                <a:solidFill>
                  <a:srgbClr val="1E4D3B"/>
                </a:solidFill>
                <a:latin typeface="Carlito" pitchFamily="34" charset="0"/>
                <a:ea typeface="Carlito" pitchFamily="34" charset="-122"/>
                <a:cs typeface="Carlito" pitchFamily="34" charset="-120"/>
              </a:rPr>
              <a:t> of documented home child-hazard scenarios gain an active safety layer</a:t>
            </a:r>
            <a:endParaRPr lang="en-US" sz="2306" dirty="0"/>
          </a:p>
        </p:txBody>
      </p:sp>
      <p:sp>
        <p:nvSpPr>
          <p:cNvPr id="6" name="Text 4"/>
          <p:cNvSpPr/>
          <p:nvPr/>
        </p:nvSpPr>
        <p:spPr>
          <a:xfrm>
            <a:off x="5449119" y="932371"/>
            <a:ext cx="3294831" cy="749826"/>
          </a:xfrm>
          <a:prstGeom prst="rect">
            <a:avLst/>
          </a:prstGeom>
          <a:noFill/>
          <a:ln/>
        </p:spPr>
        <p:txBody>
          <a:bodyPr wrap="square" lIns="128588" tIns="0" rIns="0" bIns="0" rtlCol="0" anchor="t"/>
          <a:lstStyle/>
          <a:p>
            <a:pPr algn="l" indent="0" marL="0">
              <a:lnSpc>
                <a:spcPts val="1367"/>
              </a:lnSpc>
              <a:buNone/>
            </a:pPr>
            <a:r>
              <a:rPr lang="en-US" sz="844" dirty="0">
                <a:solidFill>
                  <a:srgbClr val="33463C"/>
                </a:solidFill>
                <a:latin typeface="Carlito" pitchFamily="34" charset="0"/>
                <a:ea typeface="Carlito" pitchFamily="34" charset="-122"/>
                <a:cs typeface="Carlito" pitchFamily="34" charset="-120"/>
              </a:rPr>
              <a:t>Falls from windows &amp; balconies and household electrical hazards are the two categories documented in UAE child-safety evidence. GuardianLoop adds detection, instant alerts and verified resolution tracking to every one of them.</a:t>
            </a:r>
            <a:endParaRPr lang="en-US" sz="844" dirty="0"/>
          </a:p>
        </p:txBody>
      </p:sp>
      <p:sp>
        <p:nvSpPr>
          <p:cNvPr id="7" name="Text 5"/>
          <p:cNvSpPr/>
          <p:nvPr/>
        </p:nvSpPr>
        <p:spPr>
          <a:xfrm>
            <a:off x="403622" y="1801676"/>
            <a:ext cx="2003822" cy="2407555"/>
          </a:xfrm>
          <a:prstGeom prst="roundRect">
            <a:avLst>
              <a:gd name="adj" fmla="val 6655"/>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8" name="Text 6"/>
          <p:cNvSpPr/>
          <p:nvPr/>
        </p:nvSpPr>
        <p:spPr>
          <a:xfrm>
            <a:off x="550069" y="2518060"/>
            <a:ext cx="1710928" cy="370332"/>
          </a:xfrm>
          <a:prstGeom prst="rect">
            <a:avLst/>
          </a:prstGeom>
          <a:noFill/>
          <a:ln/>
        </p:spPr>
        <p:txBody>
          <a:bodyPr wrap="none" lIns="0" tIns="0" rIns="0" bIns="0" rtlCol="0" anchor="t"/>
          <a:lstStyle/>
          <a:p>
            <a:pPr algn="l" indent="0" marL="0">
              <a:lnSpc>
                <a:spcPts val="2700"/>
              </a:lnSpc>
              <a:buNone/>
            </a:pPr>
            <a:r>
              <a:rPr lang="en-US" sz="2700" b="1" spc="-84" kern="0" dirty="0">
                <a:solidFill>
                  <a:srgbClr val="1E4D3B"/>
                </a:solidFill>
                <a:latin typeface="Liberation Sans Narrow" pitchFamily="34" charset="0"/>
                <a:ea typeface="Liberation Sans Narrow" pitchFamily="34" charset="-122"/>
                <a:cs typeface="Liberation Sans Narrow" pitchFamily="34" charset="-120"/>
              </a:rPr>
              <a:t>27%</a:t>
            </a:r>
            <a:endParaRPr lang="en-US" sz="2700" dirty="0"/>
          </a:p>
        </p:txBody>
      </p:sp>
      <p:sp>
        <p:nvSpPr>
          <p:cNvPr id="9" name="Text 7"/>
          <p:cNvSpPr/>
          <p:nvPr/>
        </p:nvSpPr>
        <p:spPr>
          <a:xfrm>
            <a:off x="550069" y="2918110"/>
            <a:ext cx="1710928" cy="290018"/>
          </a:xfrm>
          <a:prstGeom prst="rect">
            <a:avLst/>
          </a:prstGeom>
          <a:noFill/>
          <a:ln/>
        </p:spPr>
        <p:txBody>
          <a:bodyPr wrap="square" lIns="0" tIns="0" rIns="0" bIns="0" rtlCol="0" anchor="t">
            <a:normAutofit/>
          </a:bodyPr>
          <a:lstStyle/>
          <a:p>
            <a:pPr algn="l" indent="0" marL="0">
              <a:lnSpc>
                <a:spcPts val="1025"/>
              </a:lnSpc>
              <a:buNone/>
            </a:pPr>
            <a:r>
              <a:rPr lang="en-US" sz="800" b="1" dirty="0">
                <a:solidFill>
                  <a:srgbClr val="33463C"/>
                </a:solidFill>
                <a:latin typeface="Carlito" pitchFamily="34" charset="0"/>
                <a:ea typeface="Carlito" pitchFamily="34" charset="-122"/>
                <a:cs typeface="Carlito" pitchFamily="34" charset="-120"/>
              </a:rPr>
              <a:t>of reported UAE child falls involved furniture near windows</a:t>
            </a:r>
            <a:endParaRPr lang="en-US" sz="800" dirty="0"/>
          </a:p>
        </p:txBody>
      </p:sp>
      <p:sp>
        <p:nvSpPr>
          <p:cNvPr id="10" name="Text 8"/>
          <p:cNvSpPr/>
          <p:nvPr/>
        </p:nvSpPr>
        <p:spPr>
          <a:xfrm>
            <a:off x="550069" y="3235561"/>
            <a:ext cx="1710928" cy="329184"/>
          </a:xfrm>
          <a:prstGeom prst="rect">
            <a:avLst/>
          </a:prstGeom>
          <a:noFill/>
          <a:ln/>
        </p:spPr>
        <p:txBody>
          <a:bodyPr wrap="square" lIns="0" tIns="0" rIns="0" bIns="0" rtlCol="0" anchor="t"/>
          <a:lstStyle/>
          <a:p>
            <a:pPr algn="l" indent="0" marL="0">
              <a:lnSpc>
                <a:spcPts val="1013"/>
              </a:lnSpc>
              <a:buNone/>
            </a:pPr>
            <a:r>
              <a:rPr lang="en-US" sz="800" dirty="0">
                <a:solidFill>
                  <a:srgbClr val="6B7A6F"/>
                </a:solidFill>
                <a:latin typeface="Carlito" pitchFamily="34" charset="0"/>
                <a:ea typeface="Carlito" pitchFamily="34" charset="-122"/>
                <a:cs typeface="Carlito" pitchFamily="34" charset="-120"/>
              </a:rPr>
              <a:t>window-zone detection targets exactly this environment</a:t>
            </a:r>
            <a:endParaRPr lang="en-US" sz="800" dirty="0"/>
          </a:p>
        </p:txBody>
      </p:sp>
      <p:sp>
        <p:nvSpPr>
          <p:cNvPr id="11" name="Text 9"/>
          <p:cNvSpPr/>
          <p:nvPr/>
        </p:nvSpPr>
        <p:spPr>
          <a:xfrm>
            <a:off x="2514600" y="1801676"/>
            <a:ext cx="2003822" cy="2407555"/>
          </a:xfrm>
          <a:prstGeom prst="roundRect">
            <a:avLst>
              <a:gd name="adj" fmla="val 6655"/>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2" name="Text 10"/>
          <p:cNvSpPr/>
          <p:nvPr/>
        </p:nvSpPr>
        <p:spPr>
          <a:xfrm>
            <a:off x="2661047" y="2583135"/>
            <a:ext cx="1710928" cy="370332"/>
          </a:xfrm>
          <a:prstGeom prst="rect">
            <a:avLst/>
          </a:prstGeom>
          <a:noFill/>
          <a:ln/>
        </p:spPr>
        <p:txBody>
          <a:bodyPr wrap="none" lIns="0" tIns="0" rIns="0" bIns="0" rtlCol="0" anchor="t"/>
          <a:lstStyle/>
          <a:p>
            <a:pPr algn="l" indent="0" marL="0">
              <a:lnSpc>
                <a:spcPts val="2700"/>
              </a:lnSpc>
              <a:buNone/>
            </a:pPr>
            <a:r>
              <a:rPr lang="en-US" sz="2700" b="1" spc="-84" kern="0" dirty="0">
                <a:solidFill>
                  <a:srgbClr val="1E4D3B"/>
                </a:solidFill>
                <a:latin typeface="Liberation Sans Narrow" pitchFamily="34" charset="0"/>
                <a:ea typeface="Liberation Sans Narrow" pitchFamily="34" charset="-122"/>
                <a:cs typeface="Liberation Sans Narrow" pitchFamily="34" charset="-120"/>
              </a:rPr>
              <a:t>81%</a:t>
            </a:r>
            <a:endParaRPr lang="en-US" sz="2700" dirty="0"/>
          </a:p>
        </p:txBody>
      </p:sp>
      <p:sp>
        <p:nvSpPr>
          <p:cNvPr id="13" name="Text 11"/>
          <p:cNvSpPr/>
          <p:nvPr/>
        </p:nvSpPr>
        <p:spPr>
          <a:xfrm>
            <a:off x="2661047" y="2983185"/>
            <a:ext cx="1813584" cy="148082"/>
          </a:xfrm>
          <a:prstGeom prst="rect">
            <a:avLst/>
          </a:prstGeom>
          <a:noFill/>
          <a:ln/>
        </p:spPr>
        <p:txBody>
          <a:bodyPr wrap="square" lIns="0" tIns="0" rIns="0" bIns="0" rtlCol="0" anchor="t"/>
          <a:lstStyle/>
          <a:p>
            <a:pPr algn="l" indent="0" marL="0">
              <a:lnSpc>
                <a:spcPts val="1025"/>
              </a:lnSpc>
              <a:buNone/>
            </a:pPr>
            <a:r>
              <a:rPr lang="en-US" sz="759" b="1" dirty="0">
                <a:solidFill>
                  <a:srgbClr val="33463C"/>
                </a:solidFill>
                <a:latin typeface="Liberation Sans Narrow" pitchFamily="34" charset="0"/>
                <a:ea typeface="Liberation Sans Narrow" pitchFamily="34" charset="-122"/>
                <a:cs typeface="Liberation Sans Narrow" pitchFamily="34" charset="-120"/>
              </a:rPr>
              <a:t>of the 81 reported falls were fatal</a:t>
            </a:r>
            <a:endParaRPr lang="en-US" sz="759" dirty="0"/>
          </a:p>
        </p:txBody>
      </p:sp>
      <p:sp>
        <p:nvSpPr>
          <p:cNvPr id="14" name="Text 12"/>
          <p:cNvSpPr/>
          <p:nvPr/>
        </p:nvSpPr>
        <p:spPr>
          <a:xfrm>
            <a:off x="2661047" y="3170486"/>
            <a:ext cx="1710928" cy="329184"/>
          </a:xfrm>
          <a:prstGeom prst="rect">
            <a:avLst/>
          </a:prstGeom>
          <a:noFill/>
          <a:ln/>
        </p:spPr>
        <p:txBody>
          <a:bodyPr wrap="square" lIns="0" tIns="0" rIns="0" bIns="0" rtlCol="0" anchor="t"/>
          <a:lstStyle/>
          <a:p>
            <a:pPr algn="l" indent="0" marL="0">
              <a:lnSpc>
                <a:spcPts val="1013"/>
              </a:lnSpc>
              <a:buNone/>
            </a:pPr>
            <a:r>
              <a:rPr lang="en-US" sz="800" dirty="0">
                <a:solidFill>
                  <a:srgbClr val="6B7A6F"/>
                </a:solidFill>
                <a:latin typeface="Carlito" pitchFamily="34" charset="0"/>
                <a:ea typeface="Carlito" pitchFamily="34" charset="-122"/>
                <a:cs typeface="Carlito" pitchFamily="34" charset="-120"/>
              </a:rPr>
              <a:t>cutting detection-to-alert to seconds is where outcomes change</a:t>
            </a:r>
            <a:endParaRPr lang="en-US" sz="800" dirty="0"/>
          </a:p>
        </p:txBody>
      </p:sp>
      <p:sp>
        <p:nvSpPr>
          <p:cNvPr id="15" name="Text 13"/>
          <p:cNvSpPr/>
          <p:nvPr/>
        </p:nvSpPr>
        <p:spPr>
          <a:xfrm>
            <a:off x="4625578" y="1801676"/>
            <a:ext cx="2003822" cy="2407555"/>
          </a:xfrm>
          <a:prstGeom prst="roundRect">
            <a:avLst>
              <a:gd name="adj" fmla="val 6655"/>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6" name="Text 14"/>
          <p:cNvSpPr/>
          <p:nvPr/>
        </p:nvSpPr>
        <p:spPr>
          <a:xfrm>
            <a:off x="4772025" y="2582354"/>
            <a:ext cx="1710928" cy="370332"/>
          </a:xfrm>
          <a:prstGeom prst="rect">
            <a:avLst/>
          </a:prstGeom>
          <a:noFill/>
          <a:ln/>
        </p:spPr>
        <p:txBody>
          <a:bodyPr wrap="none" lIns="0" tIns="0" rIns="0" bIns="0" rtlCol="0" anchor="t"/>
          <a:lstStyle/>
          <a:p>
            <a:pPr algn="l" indent="0" marL="0">
              <a:lnSpc>
                <a:spcPts val="2700"/>
              </a:lnSpc>
              <a:buNone/>
            </a:pPr>
            <a:r>
              <a:rPr lang="en-US" sz="2700" b="1" spc="-84" kern="0" dirty="0">
                <a:solidFill>
                  <a:srgbClr val="1E4D3B"/>
                </a:solidFill>
                <a:latin typeface="Liberation Sans Narrow" pitchFamily="34" charset="0"/>
                <a:ea typeface="Liberation Sans Narrow" pitchFamily="34" charset="-122"/>
                <a:cs typeface="Liberation Sans Narrow" pitchFamily="34" charset="-120"/>
              </a:rPr>
              <a:t>~90%</a:t>
            </a:r>
            <a:endParaRPr lang="en-US" sz="2700" dirty="0"/>
          </a:p>
        </p:txBody>
      </p:sp>
      <p:sp>
        <p:nvSpPr>
          <p:cNvPr id="17" name="Text 15"/>
          <p:cNvSpPr/>
          <p:nvPr/>
        </p:nvSpPr>
        <p:spPr>
          <a:xfrm>
            <a:off x="4772025" y="2982404"/>
            <a:ext cx="1710928" cy="290018"/>
          </a:xfrm>
          <a:prstGeom prst="rect">
            <a:avLst/>
          </a:prstGeom>
          <a:noFill/>
          <a:ln/>
        </p:spPr>
        <p:txBody>
          <a:bodyPr wrap="square" lIns="0" tIns="0" rIns="0" bIns="0" rtlCol="0" anchor="t">
            <a:normAutofit/>
          </a:bodyPr>
          <a:lstStyle/>
          <a:p>
            <a:pPr algn="l" indent="0" marL="0">
              <a:lnSpc>
                <a:spcPts val="1025"/>
              </a:lnSpc>
              <a:buNone/>
            </a:pPr>
            <a:r>
              <a:rPr lang="en-US" sz="800" b="1" dirty="0">
                <a:solidFill>
                  <a:srgbClr val="33463C"/>
                </a:solidFill>
                <a:latin typeface="Carlito" pitchFamily="34" charset="0"/>
                <a:ea typeface="Carlito" pitchFamily="34" charset="-122"/>
                <a:cs typeface="Carlito" pitchFamily="34" charset="-120"/>
              </a:rPr>
              <a:t>pilot target: fewer maintenance hazards left unresolved</a:t>
            </a:r>
            <a:endParaRPr lang="en-US" sz="800" dirty="0"/>
          </a:p>
        </p:txBody>
      </p:sp>
      <p:sp>
        <p:nvSpPr>
          <p:cNvPr id="18" name="Text 16"/>
          <p:cNvSpPr/>
          <p:nvPr/>
        </p:nvSpPr>
        <p:spPr>
          <a:xfrm>
            <a:off x="4772025" y="3299854"/>
            <a:ext cx="1813584" cy="164592"/>
          </a:xfrm>
          <a:prstGeom prst="rect">
            <a:avLst/>
          </a:prstGeom>
          <a:noFill/>
          <a:ln/>
        </p:spPr>
        <p:txBody>
          <a:bodyPr wrap="square" lIns="0" tIns="0" rIns="0" bIns="0" rtlCol="0" anchor="t"/>
          <a:lstStyle/>
          <a:p>
            <a:pPr algn="l" indent="0" marL="0">
              <a:lnSpc>
                <a:spcPts val="1013"/>
              </a:lnSpc>
              <a:buNone/>
            </a:pPr>
            <a:r>
              <a:rPr lang="en-US" sz="675" dirty="0">
                <a:solidFill>
                  <a:srgbClr val="6B7A6F"/>
                </a:solidFill>
                <a:latin typeface="Carlito" pitchFamily="34" charset="0"/>
                <a:ea typeface="Carlito" pitchFamily="34" charset="-122"/>
                <a:cs typeface="Carlito" pitchFamily="34" charset="-120"/>
              </a:rPr>
              <a:t>via assignment, follow-up and escalation</a:t>
            </a:r>
            <a:endParaRPr lang="en-US" sz="675" dirty="0"/>
          </a:p>
        </p:txBody>
      </p:sp>
      <p:sp>
        <p:nvSpPr>
          <p:cNvPr id="19" name="Text 17"/>
          <p:cNvSpPr/>
          <p:nvPr/>
        </p:nvSpPr>
        <p:spPr>
          <a:xfrm>
            <a:off x="6736556" y="1801676"/>
            <a:ext cx="2003822" cy="2407555"/>
          </a:xfrm>
          <a:prstGeom prst="roundRect">
            <a:avLst>
              <a:gd name="adj" fmla="val 6655"/>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0" name="Text 18"/>
          <p:cNvSpPr/>
          <p:nvPr/>
        </p:nvSpPr>
        <p:spPr>
          <a:xfrm>
            <a:off x="6883003" y="2582354"/>
            <a:ext cx="1710928" cy="370332"/>
          </a:xfrm>
          <a:prstGeom prst="rect">
            <a:avLst/>
          </a:prstGeom>
          <a:noFill/>
          <a:ln/>
        </p:spPr>
        <p:txBody>
          <a:bodyPr wrap="none" lIns="0" tIns="0" rIns="0" bIns="0" rtlCol="0" anchor="t"/>
          <a:lstStyle/>
          <a:p>
            <a:pPr algn="l" indent="0" marL="0">
              <a:lnSpc>
                <a:spcPts val="2700"/>
              </a:lnSpc>
              <a:buNone/>
            </a:pPr>
            <a:r>
              <a:rPr lang="en-US" sz="2700" b="1" spc="-84" kern="0" dirty="0">
                <a:solidFill>
                  <a:srgbClr val="1E4D3B"/>
                </a:solidFill>
                <a:latin typeface="Liberation Sans Narrow" pitchFamily="34" charset="0"/>
                <a:ea typeface="Liberation Sans Narrow" pitchFamily="34" charset="-122"/>
                <a:cs typeface="Liberation Sans Narrow" pitchFamily="34" charset="-120"/>
              </a:rPr>
              <a:t>100%</a:t>
            </a:r>
            <a:endParaRPr lang="en-US" sz="2700" dirty="0"/>
          </a:p>
        </p:txBody>
      </p:sp>
      <p:sp>
        <p:nvSpPr>
          <p:cNvPr id="21" name="Text 19"/>
          <p:cNvSpPr/>
          <p:nvPr/>
        </p:nvSpPr>
        <p:spPr>
          <a:xfrm>
            <a:off x="6883003" y="2982404"/>
            <a:ext cx="1710928" cy="290018"/>
          </a:xfrm>
          <a:prstGeom prst="rect">
            <a:avLst/>
          </a:prstGeom>
          <a:noFill/>
          <a:ln/>
        </p:spPr>
        <p:txBody>
          <a:bodyPr wrap="square" lIns="0" tIns="0" rIns="0" bIns="0" rtlCol="0" anchor="t">
            <a:normAutofit/>
          </a:bodyPr>
          <a:lstStyle/>
          <a:p>
            <a:pPr algn="l" indent="0" marL="0">
              <a:lnSpc>
                <a:spcPts val="1025"/>
              </a:lnSpc>
              <a:buNone/>
            </a:pPr>
            <a:r>
              <a:rPr lang="en-US" sz="800" b="1" dirty="0">
                <a:solidFill>
                  <a:srgbClr val="33463C"/>
                </a:solidFill>
                <a:latin typeface="Carlito" pitchFamily="34" charset="0"/>
                <a:ea typeface="Carlito" pitchFamily="34" charset="-122"/>
                <a:cs typeface="Carlito" pitchFamily="34" charset="-120"/>
              </a:rPr>
              <a:t>of urgent events follow the escalation plan</a:t>
            </a:r>
            <a:endParaRPr lang="en-US" sz="800" dirty="0"/>
          </a:p>
        </p:txBody>
      </p:sp>
      <p:sp>
        <p:nvSpPr>
          <p:cNvPr id="22" name="Text 20"/>
          <p:cNvSpPr/>
          <p:nvPr/>
        </p:nvSpPr>
        <p:spPr>
          <a:xfrm>
            <a:off x="6883003" y="3299854"/>
            <a:ext cx="1813584" cy="164592"/>
          </a:xfrm>
          <a:prstGeom prst="rect">
            <a:avLst/>
          </a:prstGeom>
          <a:noFill/>
          <a:ln/>
        </p:spPr>
        <p:txBody>
          <a:bodyPr wrap="square" lIns="0" tIns="0" rIns="0" bIns="0" rtlCol="0" anchor="t"/>
          <a:lstStyle/>
          <a:p>
            <a:pPr algn="l" indent="0" marL="0">
              <a:lnSpc>
                <a:spcPts val="1013"/>
              </a:lnSpc>
              <a:buNone/>
            </a:pPr>
            <a:r>
              <a:rPr lang="en-US" sz="675" dirty="0">
                <a:solidFill>
                  <a:srgbClr val="6B7A6F"/>
                </a:solidFill>
                <a:latin typeface="Carlito" pitchFamily="34" charset="0"/>
                <a:ea typeface="Carlito" pitchFamily="34" charset="-122"/>
                <a:cs typeface="Carlito" pitchFamily="34" charset="-120"/>
              </a:rPr>
              <a:t>no alert is ever silently dropped</a:t>
            </a:r>
            <a:endParaRPr lang="en-US" sz="675" dirty="0"/>
          </a:p>
        </p:txBody>
      </p:sp>
      <p:sp>
        <p:nvSpPr>
          <p:cNvPr id="23" name="Text 21"/>
          <p:cNvSpPr/>
          <p:nvPr/>
        </p:nvSpPr>
        <p:spPr>
          <a:xfrm>
            <a:off x="403622" y="4359250"/>
            <a:ext cx="8336756" cy="494928"/>
          </a:xfrm>
          <a:prstGeom prst="roundRect">
            <a:avLst>
              <a:gd name="adj" fmla="val 26943"/>
            </a:avLst>
          </a:prstGeom>
          <a:solidFill>
            <a:srgbClr val="FBF3DC"/>
          </a:solidFill>
          <a:ln w="7144">
            <a:solidFill>
              <a:srgbClr val="EFDFB2"/>
            </a:solidFill>
            <a:prstDash val="solid"/>
          </a:ln>
        </p:spPr>
        <p:txBody>
          <a:bodyPr wrap="square" rtlCol="0" anchor="ctr"/>
          <a:lstStyle/>
          <a:p>
            <a:pPr indent="0" marL="0">
              <a:buNone/>
            </a:pPr>
            <a:endParaRPr lang="en-US" dirty="0"/>
          </a:p>
        </p:txBody>
      </p:sp>
      <p:sp>
        <p:nvSpPr>
          <p:cNvPr id="24" name="Text 22"/>
          <p:cNvSpPr/>
          <p:nvPr/>
        </p:nvSpPr>
        <p:spPr>
          <a:xfrm>
            <a:off x="550069" y="4513845"/>
            <a:ext cx="185738" cy="185738"/>
          </a:xfrm>
          <a:prstGeom prst="rect">
            <a:avLst/>
          </a:prstGeom>
          <a:noFill/>
          <a:ln/>
        </p:spPr>
        <p:txBody>
          <a:bodyPr wrap="none" lIns="0" tIns="0" rIns="0" bIns="0" rtlCol="0" anchor="ctr"/>
          <a:lstStyle/>
          <a:p>
            <a:pPr algn="ctr" indent="0" marL="0">
              <a:buNone/>
            </a:pPr>
            <a:r>
              <a:rPr lang="en-US" sz="1828" dirty="0">
                <a:solidFill>
                  <a:srgbClr val="8F6E12"/>
                </a:solidFill>
                <a:latin typeface="Segoe UI Symbol" pitchFamily="34" charset="0"/>
                <a:ea typeface="Segoe UI Symbol" pitchFamily="34" charset="-122"/>
                <a:cs typeface="Segoe UI Symbol" pitchFamily="34" charset="-120"/>
              </a:rPr>
              <a:t>ⓘ</a:t>
            </a:r>
            <a:endParaRPr lang="en-US" sz="1828" dirty="0"/>
          </a:p>
        </p:txBody>
      </p:sp>
      <p:sp>
        <p:nvSpPr>
          <p:cNvPr id="25" name="Text 23"/>
          <p:cNvSpPr/>
          <p:nvPr/>
        </p:nvSpPr>
        <p:spPr>
          <a:xfrm>
            <a:off x="835819" y="4462835"/>
            <a:ext cx="7758113" cy="287759"/>
          </a:xfrm>
          <a:prstGeom prst="rect">
            <a:avLst/>
          </a:prstGeom>
          <a:noFill/>
          <a:ln/>
        </p:spPr>
        <p:txBody>
          <a:bodyPr wrap="square" lIns="0" tIns="0" rIns="0" bIns="0" rtlCol="0" anchor="t"/>
          <a:lstStyle/>
          <a:p>
            <a:pPr algn="l" indent="0" marL="0">
              <a:lnSpc>
                <a:spcPts val="1133"/>
              </a:lnSpc>
              <a:buNone/>
            </a:pPr>
            <a:r>
              <a:rPr lang="en-US" sz="800" dirty="0">
                <a:solidFill>
                  <a:srgbClr val="33463C"/>
                </a:solidFill>
                <a:latin typeface="Carlito" pitchFamily="34" charset="0"/>
                <a:ea typeface="Carlito" pitchFamily="34" charset="-122"/>
                <a:cs typeface="Carlito" pitchFamily="34" charset="-120"/>
              </a:rPr>
              <a:t>Estimates derived from the cited UAE evidence base and stated as pilot targets to be validated in live deployments — GuardianLoop complements, never replaces, physical safety measures and supervision.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00050" y="314325"/>
            <a:ext cx="8636000" cy="274976"/>
          </a:xfrm>
          <a:prstGeom prst="rect">
            <a:avLst/>
          </a:prstGeom>
          <a:noFill/>
          <a:ln/>
        </p:spPr>
        <p:txBody>
          <a:bodyPr wrap="square" lIns="0" tIns="0" rIns="0" bIns="0" rtlCol="0" anchor="t"/>
          <a:lstStyle/>
          <a:p>
            <a:pPr algn="l" indent="0" marL="0">
              <a:lnSpc>
                <a:spcPts val="2005"/>
              </a:lnSpc>
              <a:buNone/>
            </a:pPr>
            <a:r>
              <a:rPr lang="en-US" sz="1744" b="1" spc="-23" kern="0" dirty="0">
                <a:solidFill>
                  <a:srgbClr val="1E4D3B"/>
                </a:solidFill>
                <a:latin typeface="Carlito" pitchFamily="34" charset="0"/>
                <a:ea typeface="Carlito" pitchFamily="34" charset="-122"/>
                <a:cs typeface="Carlito" pitchFamily="34" charset="-120"/>
              </a:rPr>
              <a:t>Built on Guardrails — Safety First, Always</a:t>
            </a:r>
            <a:endParaRPr lang="en-US" sz="1744" dirty="0"/>
          </a:p>
        </p:txBody>
      </p:sp>
      <p:sp>
        <p:nvSpPr>
          <p:cNvPr id="3" name="Text 1"/>
          <p:cNvSpPr/>
          <p:nvPr/>
        </p:nvSpPr>
        <p:spPr>
          <a:xfrm>
            <a:off x="400050" y="702097"/>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4" name="Text 2"/>
          <p:cNvSpPr/>
          <p:nvPr/>
        </p:nvSpPr>
        <p:spPr>
          <a:xfrm>
            <a:off x="871538" y="647514"/>
            <a:ext cx="7872413" cy="156595"/>
          </a:xfrm>
          <a:prstGeom prst="rect">
            <a:avLst/>
          </a:prstGeom>
          <a:noFill/>
          <a:ln/>
        </p:spPr>
        <p:txBody>
          <a:bodyPr wrap="square" lIns="0" tIns="0" rIns="0" bIns="0" rtlCol="0" anchor="t"/>
          <a:lstStyle/>
          <a:p>
            <a:pPr algn="l" indent="0" marL="0">
              <a:lnSpc>
                <a:spcPts val="1142"/>
              </a:lnSpc>
              <a:buNone/>
            </a:pPr>
            <a:r>
              <a:rPr lang="en-US" sz="816" dirty="0">
                <a:solidFill>
                  <a:srgbClr val="2E6650"/>
                </a:solidFill>
                <a:latin typeface="Carlito" pitchFamily="34" charset="0"/>
                <a:ea typeface="Carlito" pitchFamily="34" charset="-122"/>
                <a:cs typeface="Carlito" pitchFamily="34" charset="-120"/>
              </a:rPr>
              <a:t>A child-safety agent must itself be safe. Six commitments that make GuardianLoop trustworthy.</a:t>
            </a:r>
            <a:endParaRPr lang="en-US" sz="816" dirty="0"/>
          </a:p>
        </p:txBody>
      </p:sp>
      <p:sp>
        <p:nvSpPr>
          <p:cNvPr id="5" name="Text 3"/>
          <p:cNvSpPr/>
          <p:nvPr/>
        </p:nvSpPr>
        <p:spPr>
          <a:xfrm>
            <a:off x="403622" y="938957"/>
            <a:ext cx="2567285" cy="1247924"/>
          </a:xfrm>
          <a:prstGeom prst="roundRect">
            <a:avLst>
              <a:gd name="adj" fmla="val 10686"/>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6" name="Text 4"/>
          <p:cNvSpPr/>
          <p:nvPr/>
        </p:nvSpPr>
        <p:spPr>
          <a:xfrm>
            <a:off x="528638" y="1412900"/>
            <a:ext cx="300038" cy="300038"/>
          </a:xfrm>
          <a:prstGeom prst="roundRect">
            <a:avLst>
              <a:gd name="adj" fmla="val 38095"/>
            </a:avLst>
          </a:prstGeom>
          <a:solidFill>
            <a:srgbClr val="E4EFE6"/>
          </a:solidFill>
          <a:ln/>
        </p:spPr>
        <p:txBody>
          <a:bodyPr wrap="square" rtlCol="0" anchor="ctr"/>
          <a:lstStyle/>
          <a:p>
            <a:pPr indent="0" marL="0">
              <a:buNone/>
            </a:pPr>
            <a:endParaRPr lang="en-US" dirty="0"/>
          </a:p>
        </p:txBody>
      </p:sp>
      <p:sp>
        <p:nvSpPr>
          <p:cNvPr id="7" name="Text 5"/>
          <p:cNvSpPr/>
          <p:nvPr/>
        </p:nvSpPr>
        <p:spPr>
          <a:xfrm>
            <a:off x="559534" y="1443797"/>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8" name="Text 6"/>
          <p:cNvSpPr/>
          <p:nvPr/>
        </p:nvSpPr>
        <p:spPr>
          <a:xfrm>
            <a:off x="921544" y="1284312"/>
            <a:ext cx="2034076" cy="149376"/>
          </a:xfrm>
          <a:prstGeom prst="rect">
            <a:avLst/>
          </a:prstGeom>
          <a:noFill/>
          <a:ln/>
        </p:spPr>
        <p:txBody>
          <a:bodyPr wrap="squar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Physical prevention first</a:t>
            </a:r>
            <a:endParaRPr lang="en-US" sz="816" dirty="0"/>
          </a:p>
        </p:txBody>
      </p:sp>
      <p:sp>
        <p:nvSpPr>
          <p:cNvPr id="9" name="Text 7"/>
          <p:cNvSpPr/>
          <p:nvPr/>
        </p:nvSpPr>
        <p:spPr>
          <a:xfrm>
            <a:off x="921544" y="1461120"/>
            <a:ext cx="1924348" cy="476981"/>
          </a:xfrm>
          <a:prstGeom prst="rect">
            <a:avLst/>
          </a:prstGeom>
          <a:noFill/>
          <a:ln/>
        </p:spPr>
        <p:txBody>
          <a:bodyPr wrap="square" lIns="0" tIns="0" rIns="0" bIns="0" rtlCol="0" anchor="t"/>
          <a:lstStyle/>
          <a:p>
            <a:pPr algn="l" indent="0" marL="0">
              <a:lnSpc>
                <a:spcPts val="999"/>
              </a:lnSpc>
              <a:buNone/>
            </a:pPr>
            <a:r>
              <a:rPr lang="en-US" sz="800" dirty="0">
                <a:solidFill>
                  <a:srgbClr val="6B7A6F"/>
                </a:solidFill>
                <a:latin typeface="Carlito" pitchFamily="34" charset="0"/>
                <a:ea typeface="Carlito" pitchFamily="34" charset="-122"/>
                <a:cs typeface="Carlito" pitchFamily="34" charset="-120"/>
              </a:rPr>
              <a:t>AI is an extra layer; window locks, balcony guards and supervision remain the primary barriers</a:t>
            </a:r>
            <a:endParaRPr lang="en-US" sz="800" dirty="0"/>
          </a:p>
        </p:txBody>
      </p:sp>
      <p:sp>
        <p:nvSpPr>
          <p:cNvPr id="10" name="Text 8"/>
          <p:cNvSpPr/>
          <p:nvPr/>
        </p:nvSpPr>
        <p:spPr>
          <a:xfrm>
            <a:off x="3070920" y="938957"/>
            <a:ext cx="2567397" cy="1247924"/>
          </a:xfrm>
          <a:prstGeom prst="roundRect">
            <a:avLst>
              <a:gd name="adj" fmla="val 10686"/>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1" name="Text 9"/>
          <p:cNvSpPr/>
          <p:nvPr/>
        </p:nvSpPr>
        <p:spPr>
          <a:xfrm>
            <a:off x="3195935" y="1412900"/>
            <a:ext cx="300038" cy="300038"/>
          </a:xfrm>
          <a:prstGeom prst="roundRect">
            <a:avLst>
              <a:gd name="adj" fmla="val 38095"/>
            </a:avLst>
          </a:prstGeom>
          <a:solidFill>
            <a:srgbClr val="E4EFE6"/>
          </a:solidFill>
          <a:ln/>
        </p:spPr>
        <p:txBody>
          <a:bodyPr wrap="square" rtlCol="0" anchor="ctr"/>
          <a:lstStyle/>
          <a:p>
            <a:pPr indent="0" marL="0">
              <a:buNone/>
            </a:pPr>
            <a:endParaRPr lang="en-US" dirty="0"/>
          </a:p>
        </p:txBody>
      </p:sp>
      <p:sp>
        <p:nvSpPr>
          <p:cNvPr id="12" name="Text 10"/>
          <p:cNvSpPr/>
          <p:nvPr/>
        </p:nvSpPr>
        <p:spPr>
          <a:xfrm>
            <a:off x="3226832" y="1443797"/>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13" name="Text 11"/>
          <p:cNvSpPr/>
          <p:nvPr/>
        </p:nvSpPr>
        <p:spPr>
          <a:xfrm>
            <a:off x="3588841" y="1347713"/>
            <a:ext cx="1924459" cy="149376"/>
          </a:xfrm>
          <a:prstGeom prst="rect">
            <a:avLst/>
          </a:prstGeom>
          <a:noFill/>
          <a:ln/>
        </p:spPr>
        <p:txBody>
          <a:bodyPr wrap="non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No unsafe wearables</a:t>
            </a:r>
            <a:endParaRPr lang="en-US" sz="816" dirty="0"/>
          </a:p>
        </p:txBody>
      </p:sp>
      <p:sp>
        <p:nvSpPr>
          <p:cNvPr id="14" name="Text 12"/>
          <p:cNvSpPr/>
          <p:nvPr/>
        </p:nvSpPr>
        <p:spPr>
          <a:xfrm>
            <a:off x="3588841" y="1524521"/>
            <a:ext cx="1924459" cy="317987"/>
          </a:xfrm>
          <a:prstGeom prst="rect">
            <a:avLst/>
          </a:prstGeom>
          <a:noFill/>
          <a:ln/>
        </p:spPr>
        <p:txBody>
          <a:bodyPr wrap="square" lIns="0" tIns="0" rIns="0" bIns="0" rtlCol="0" anchor="t"/>
          <a:lstStyle/>
          <a:p>
            <a:pPr algn="l" indent="0" marL="0">
              <a:lnSpc>
                <a:spcPts val="999"/>
              </a:lnSpc>
              <a:buNone/>
            </a:pPr>
            <a:r>
              <a:rPr lang="en-US" sz="800" dirty="0">
                <a:solidFill>
                  <a:srgbClr val="6B7A6F"/>
                </a:solidFill>
                <a:latin typeface="Carlito" pitchFamily="34" charset="0"/>
                <a:ea typeface="Carlito" pitchFamily="34" charset="-122"/>
                <a:cs typeface="Carlito" pitchFamily="34" charset="-120"/>
              </a:rPr>
              <a:t>fixed, safely mounted cameras only; nothing around a child's neck or reach</a:t>
            </a:r>
            <a:endParaRPr lang="en-US" sz="800" dirty="0"/>
          </a:p>
        </p:txBody>
      </p:sp>
      <p:sp>
        <p:nvSpPr>
          <p:cNvPr id="15" name="Text 13"/>
          <p:cNvSpPr/>
          <p:nvPr/>
        </p:nvSpPr>
        <p:spPr>
          <a:xfrm>
            <a:off x="403622" y="2286893"/>
            <a:ext cx="2567285" cy="1247924"/>
          </a:xfrm>
          <a:prstGeom prst="roundRect">
            <a:avLst>
              <a:gd name="adj" fmla="val 10686"/>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6" name="Text 14"/>
          <p:cNvSpPr/>
          <p:nvPr/>
        </p:nvSpPr>
        <p:spPr>
          <a:xfrm>
            <a:off x="528638" y="2760836"/>
            <a:ext cx="300038" cy="300038"/>
          </a:xfrm>
          <a:prstGeom prst="roundRect">
            <a:avLst>
              <a:gd name="adj" fmla="val 38095"/>
            </a:avLst>
          </a:prstGeom>
          <a:solidFill>
            <a:srgbClr val="E4EFE6"/>
          </a:solidFill>
          <a:ln/>
        </p:spPr>
        <p:txBody>
          <a:bodyPr wrap="square" rtlCol="0" anchor="ctr"/>
          <a:lstStyle/>
          <a:p>
            <a:pPr indent="0" marL="0">
              <a:buNone/>
            </a:pPr>
            <a:endParaRPr lang="en-US" dirty="0"/>
          </a:p>
        </p:txBody>
      </p:sp>
      <p:sp>
        <p:nvSpPr>
          <p:cNvPr id="17" name="Text 15"/>
          <p:cNvSpPr/>
          <p:nvPr/>
        </p:nvSpPr>
        <p:spPr>
          <a:xfrm>
            <a:off x="559534" y="2791733"/>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18" name="Text 16"/>
          <p:cNvSpPr/>
          <p:nvPr/>
        </p:nvSpPr>
        <p:spPr>
          <a:xfrm>
            <a:off x="921544" y="2695649"/>
            <a:ext cx="2034076" cy="149376"/>
          </a:xfrm>
          <a:prstGeom prst="rect">
            <a:avLst/>
          </a:prstGeom>
          <a:noFill/>
          <a:ln/>
        </p:spPr>
        <p:txBody>
          <a:bodyPr wrap="squar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Deterministic emergency rules</a:t>
            </a:r>
            <a:endParaRPr lang="en-US" sz="816" dirty="0"/>
          </a:p>
        </p:txBody>
      </p:sp>
      <p:sp>
        <p:nvSpPr>
          <p:cNvPr id="19" name="Text 17"/>
          <p:cNvSpPr/>
          <p:nvPr/>
        </p:nvSpPr>
        <p:spPr>
          <a:xfrm>
            <a:off x="921544" y="2872457"/>
            <a:ext cx="1924348" cy="317987"/>
          </a:xfrm>
          <a:prstGeom prst="rect">
            <a:avLst/>
          </a:prstGeom>
          <a:noFill/>
          <a:ln/>
        </p:spPr>
        <p:txBody>
          <a:bodyPr wrap="square" lIns="0" tIns="0" rIns="0" bIns="0" rtlCol="0" anchor="t"/>
          <a:lstStyle/>
          <a:p>
            <a:pPr algn="l" indent="0" marL="0">
              <a:lnSpc>
                <a:spcPts val="999"/>
              </a:lnSpc>
              <a:buNone/>
            </a:pPr>
            <a:r>
              <a:rPr lang="en-US" sz="800" dirty="0">
                <a:solidFill>
                  <a:srgbClr val="6B7A6F"/>
                </a:solidFill>
                <a:latin typeface="Carlito" pitchFamily="34" charset="0"/>
                <a:ea typeface="Carlito" pitchFamily="34" charset="-122"/>
                <a:cs typeface="Carlito" pitchFamily="34" charset="-120"/>
              </a:rPr>
              <a:t>life-safety alarms never depend on an LLM's reasoning time</a:t>
            </a:r>
            <a:endParaRPr lang="en-US" sz="800" dirty="0"/>
          </a:p>
        </p:txBody>
      </p:sp>
      <p:sp>
        <p:nvSpPr>
          <p:cNvPr id="20" name="Text 18"/>
          <p:cNvSpPr/>
          <p:nvPr/>
        </p:nvSpPr>
        <p:spPr>
          <a:xfrm>
            <a:off x="3070920" y="2286893"/>
            <a:ext cx="2567397" cy="1247924"/>
          </a:xfrm>
          <a:prstGeom prst="roundRect">
            <a:avLst>
              <a:gd name="adj" fmla="val 10686"/>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1" name="Text 19"/>
          <p:cNvSpPr/>
          <p:nvPr/>
        </p:nvSpPr>
        <p:spPr>
          <a:xfrm>
            <a:off x="3195935" y="2760836"/>
            <a:ext cx="300038" cy="300038"/>
          </a:xfrm>
          <a:prstGeom prst="roundRect">
            <a:avLst>
              <a:gd name="adj" fmla="val 38095"/>
            </a:avLst>
          </a:prstGeom>
          <a:solidFill>
            <a:srgbClr val="E4EFE6"/>
          </a:solidFill>
          <a:ln/>
        </p:spPr>
        <p:txBody>
          <a:bodyPr wrap="square" rtlCol="0" anchor="ctr"/>
          <a:lstStyle/>
          <a:p>
            <a:pPr indent="0" marL="0">
              <a:buNone/>
            </a:pPr>
            <a:endParaRPr lang="en-US" dirty="0"/>
          </a:p>
        </p:txBody>
      </p:sp>
      <p:sp>
        <p:nvSpPr>
          <p:cNvPr id="22" name="Text 20"/>
          <p:cNvSpPr/>
          <p:nvPr/>
        </p:nvSpPr>
        <p:spPr>
          <a:xfrm>
            <a:off x="3226832" y="2791733"/>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23" name="Text 21"/>
          <p:cNvSpPr/>
          <p:nvPr/>
        </p:nvSpPr>
        <p:spPr>
          <a:xfrm>
            <a:off x="3588841" y="2695649"/>
            <a:ext cx="1924459" cy="149376"/>
          </a:xfrm>
          <a:prstGeom prst="rect">
            <a:avLst/>
          </a:prstGeom>
          <a:noFill/>
          <a:ln/>
        </p:spPr>
        <p:txBody>
          <a:bodyPr wrap="non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Privacy by design</a:t>
            </a:r>
            <a:endParaRPr lang="en-US" sz="816" dirty="0"/>
          </a:p>
        </p:txBody>
      </p:sp>
      <p:sp>
        <p:nvSpPr>
          <p:cNvPr id="24" name="Text 22"/>
          <p:cNvSpPr/>
          <p:nvPr/>
        </p:nvSpPr>
        <p:spPr>
          <a:xfrm>
            <a:off x="3588841" y="2872457"/>
            <a:ext cx="1924459" cy="317987"/>
          </a:xfrm>
          <a:prstGeom prst="rect">
            <a:avLst/>
          </a:prstGeom>
          <a:noFill/>
          <a:ln/>
        </p:spPr>
        <p:txBody>
          <a:bodyPr wrap="square" lIns="0" tIns="0" rIns="0" bIns="0" rtlCol="0" anchor="t"/>
          <a:lstStyle/>
          <a:p>
            <a:pPr algn="l" indent="0" marL="0">
              <a:lnSpc>
                <a:spcPts val="999"/>
              </a:lnSpc>
              <a:buNone/>
            </a:pPr>
            <a:r>
              <a:rPr lang="en-US" sz="800" dirty="0">
                <a:solidFill>
                  <a:srgbClr val="6B7A6F"/>
                </a:solidFill>
                <a:latin typeface="Carlito" pitchFamily="34" charset="0"/>
                <a:ea typeface="Carlito" pitchFamily="34" charset="-122"/>
                <a:cs typeface="Carlito" pitchFamily="34" charset="-120"/>
              </a:rPr>
              <a:t>local processing, no facial identification, minimal retention</a:t>
            </a:r>
            <a:endParaRPr lang="en-US" sz="800" dirty="0"/>
          </a:p>
        </p:txBody>
      </p:sp>
      <p:sp>
        <p:nvSpPr>
          <p:cNvPr id="25" name="Text 23"/>
          <p:cNvSpPr/>
          <p:nvPr/>
        </p:nvSpPr>
        <p:spPr>
          <a:xfrm>
            <a:off x="403622" y="3634829"/>
            <a:ext cx="2567285" cy="1247924"/>
          </a:xfrm>
          <a:prstGeom prst="roundRect">
            <a:avLst>
              <a:gd name="adj" fmla="val 10686"/>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6" name="Text 24"/>
          <p:cNvSpPr/>
          <p:nvPr/>
        </p:nvSpPr>
        <p:spPr>
          <a:xfrm>
            <a:off x="528638" y="4108772"/>
            <a:ext cx="300038" cy="300038"/>
          </a:xfrm>
          <a:prstGeom prst="roundRect">
            <a:avLst>
              <a:gd name="adj" fmla="val 38095"/>
            </a:avLst>
          </a:prstGeom>
          <a:solidFill>
            <a:srgbClr val="E4EFE6"/>
          </a:solidFill>
          <a:ln/>
        </p:spPr>
        <p:txBody>
          <a:bodyPr wrap="square" rtlCol="0" anchor="ctr"/>
          <a:lstStyle/>
          <a:p>
            <a:pPr indent="0" marL="0">
              <a:buNone/>
            </a:pPr>
            <a:endParaRPr lang="en-US" dirty="0"/>
          </a:p>
        </p:txBody>
      </p:sp>
      <p:sp>
        <p:nvSpPr>
          <p:cNvPr id="27" name="Text 25"/>
          <p:cNvSpPr/>
          <p:nvPr/>
        </p:nvSpPr>
        <p:spPr>
          <a:xfrm>
            <a:off x="559534" y="4139669"/>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28" name="Text 26"/>
          <p:cNvSpPr/>
          <p:nvPr/>
        </p:nvSpPr>
        <p:spPr>
          <a:xfrm>
            <a:off x="921544" y="4043586"/>
            <a:ext cx="1924348" cy="149376"/>
          </a:xfrm>
          <a:prstGeom prst="rect">
            <a:avLst/>
          </a:prstGeom>
          <a:noFill/>
          <a:ln/>
        </p:spPr>
        <p:txBody>
          <a:bodyPr wrap="non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No false reassurance</a:t>
            </a:r>
            <a:endParaRPr lang="en-US" sz="816" dirty="0"/>
          </a:p>
        </p:txBody>
      </p:sp>
      <p:sp>
        <p:nvSpPr>
          <p:cNvPr id="29" name="Text 27"/>
          <p:cNvSpPr/>
          <p:nvPr/>
        </p:nvSpPr>
        <p:spPr>
          <a:xfrm>
            <a:off x="921544" y="4220394"/>
            <a:ext cx="1924348" cy="317987"/>
          </a:xfrm>
          <a:prstGeom prst="rect">
            <a:avLst/>
          </a:prstGeom>
          <a:noFill/>
          <a:ln/>
        </p:spPr>
        <p:txBody>
          <a:bodyPr wrap="square" lIns="0" tIns="0" rIns="0" bIns="0" rtlCol="0" anchor="t"/>
          <a:lstStyle/>
          <a:p>
            <a:pPr algn="l" indent="0" marL="0">
              <a:lnSpc>
                <a:spcPts val="999"/>
              </a:lnSpc>
              <a:buNone/>
            </a:pPr>
            <a:r>
              <a:rPr lang="en-US" sz="800" dirty="0">
                <a:solidFill>
                  <a:srgbClr val="6B7A6F"/>
                </a:solidFill>
                <a:latin typeface="Carlito" pitchFamily="34" charset="0"/>
                <a:ea typeface="Carlito" pitchFamily="34" charset="-122"/>
                <a:cs typeface="Carlito" pitchFamily="34" charset="-120"/>
              </a:rPr>
              <a:t>the app shows uncertainty and offline cameras honestly</a:t>
            </a:r>
            <a:endParaRPr lang="en-US" sz="800" dirty="0"/>
          </a:p>
        </p:txBody>
      </p:sp>
      <p:sp>
        <p:nvSpPr>
          <p:cNvPr id="30" name="Text 28"/>
          <p:cNvSpPr/>
          <p:nvPr/>
        </p:nvSpPr>
        <p:spPr>
          <a:xfrm>
            <a:off x="3070920" y="3634829"/>
            <a:ext cx="2567397" cy="1247924"/>
          </a:xfrm>
          <a:prstGeom prst="roundRect">
            <a:avLst>
              <a:gd name="adj" fmla="val 10686"/>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31" name="Text 29"/>
          <p:cNvSpPr/>
          <p:nvPr/>
        </p:nvSpPr>
        <p:spPr>
          <a:xfrm>
            <a:off x="3195935" y="4108772"/>
            <a:ext cx="300038" cy="300038"/>
          </a:xfrm>
          <a:prstGeom prst="roundRect">
            <a:avLst>
              <a:gd name="adj" fmla="val 38095"/>
            </a:avLst>
          </a:prstGeom>
          <a:solidFill>
            <a:srgbClr val="E4EFE6"/>
          </a:solidFill>
          <a:ln/>
        </p:spPr>
        <p:txBody>
          <a:bodyPr wrap="square" rtlCol="0" anchor="ctr"/>
          <a:lstStyle/>
          <a:p>
            <a:pPr indent="0" marL="0">
              <a:buNone/>
            </a:pPr>
            <a:endParaRPr lang="en-US" dirty="0"/>
          </a:p>
        </p:txBody>
      </p:sp>
      <p:sp>
        <p:nvSpPr>
          <p:cNvPr id="32" name="Text 30"/>
          <p:cNvSpPr/>
          <p:nvPr/>
        </p:nvSpPr>
        <p:spPr>
          <a:xfrm>
            <a:off x="3226832" y="4139669"/>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33" name="Text 31"/>
          <p:cNvSpPr/>
          <p:nvPr/>
        </p:nvSpPr>
        <p:spPr>
          <a:xfrm>
            <a:off x="3588841" y="4043586"/>
            <a:ext cx="2034187" cy="149376"/>
          </a:xfrm>
          <a:prstGeom prst="rect">
            <a:avLst/>
          </a:prstGeom>
          <a:noFill/>
          <a:ln/>
        </p:spPr>
        <p:txBody>
          <a:bodyPr wrap="squar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Qualified professionals only</a:t>
            </a:r>
            <a:endParaRPr lang="en-US" sz="816" dirty="0"/>
          </a:p>
        </p:txBody>
      </p:sp>
      <p:sp>
        <p:nvSpPr>
          <p:cNvPr id="34" name="Text 32"/>
          <p:cNvSpPr/>
          <p:nvPr/>
        </p:nvSpPr>
        <p:spPr>
          <a:xfrm>
            <a:off x="3588841" y="4220394"/>
            <a:ext cx="1924459" cy="317987"/>
          </a:xfrm>
          <a:prstGeom prst="rect">
            <a:avLst/>
          </a:prstGeom>
          <a:noFill/>
          <a:ln/>
        </p:spPr>
        <p:txBody>
          <a:bodyPr wrap="square" lIns="0" tIns="0" rIns="0" bIns="0" rtlCol="0" anchor="t"/>
          <a:lstStyle/>
          <a:p>
            <a:pPr algn="l" indent="0" marL="0">
              <a:lnSpc>
                <a:spcPts val="999"/>
              </a:lnSpc>
              <a:buNone/>
            </a:pPr>
            <a:r>
              <a:rPr lang="en-US" sz="800" dirty="0">
                <a:solidFill>
                  <a:srgbClr val="6B7A6F"/>
                </a:solidFill>
                <a:latin typeface="Carlito" pitchFamily="34" charset="0"/>
                <a:ea typeface="Carlito" pitchFamily="34" charset="-122"/>
                <a:cs typeface="Carlito" pitchFamily="34" charset="-120"/>
              </a:rPr>
              <a:t>electrical hazards go to certified electricians, never DIY advice</a:t>
            </a:r>
            <a:endParaRPr lang="en-US" sz="800" dirty="0"/>
          </a:p>
        </p:txBody>
      </p:sp>
      <p:sp>
        <p:nvSpPr>
          <p:cNvPr id="35" name="Text 33"/>
          <p:cNvSpPr/>
          <p:nvPr/>
        </p:nvSpPr>
        <p:spPr>
          <a:xfrm>
            <a:off x="5788335" y="938957"/>
            <a:ext cx="2952043" cy="3943796"/>
          </a:xfrm>
          <a:prstGeom prst="roundRect">
            <a:avLst>
              <a:gd name="adj" fmla="val 5163"/>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pic>
        <p:nvPicPr>
          <p:cNvPr id="36" name="Image 0" descr="/tmp/h2p-fit-1792648428949-8b9uso.png">    </p:cNvPr>
          <p:cNvPicPr>
            <a:picLocks noChangeAspect="1"/>
          </p:cNvPicPr>
          <p:nvPr/>
        </p:nvPicPr>
        <p:blipFill>
          <a:blip r:embed="rId1"/>
          <a:stretch>
            <a:fillRect/>
          </a:stretch>
        </p:blipFill>
        <p:spPr>
          <a:xfrm>
            <a:off x="5791907" y="942529"/>
            <a:ext cx="2944899" cy="3621435"/>
          </a:xfrm>
          <a:prstGeom prst="rect">
            <a:avLst/>
          </a:prstGeom>
        </p:spPr>
      </p:pic>
      <p:sp>
        <p:nvSpPr>
          <p:cNvPr id="37" name="Text 34"/>
          <p:cNvSpPr/>
          <p:nvPr/>
        </p:nvSpPr>
        <p:spPr>
          <a:xfrm>
            <a:off x="5791907" y="4563963"/>
            <a:ext cx="2944899" cy="315218"/>
          </a:xfrm>
          <a:prstGeom prst="rect">
            <a:avLst/>
          </a:prstGeom>
          <a:solidFill>
            <a:srgbClr val="FFFFFF"/>
          </a:solidFill>
          <a:ln/>
        </p:spPr>
        <p:txBody>
          <a:bodyPr wrap="square" rtlCol="0" anchor="ctr"/>
          <a:lstStyle/>
          <a:p>
            <a:pPr indent="0" marL="0">
              <a:buNone/>
            </a:pPr>
            <a:endParaRPr lang="en-US" dirty="0"/>
          </a:p>
        </p:txBody>
      </p:sp>
      <p:sp>
        <p:nvSpPr>
          <p:cNvPr id="38" name="Shape 35"/>
          <p:cNvSpPr/>
          <p:nvPr/>
        </p:nvSpPr>
        <p:spPr>
          <a:xfrm>
            <a:off x="5791907" y="4567535"/>
            <a:ext cx="2944899" cy="0"/>
          </a:xfrm>
          <a:prstGeom prst="line">
            <a:avLst/>
          </a:prstGeom>
          <a:noFill/>
          <a:ln w="7144">
            <a:solidFill>
              <a:srgbClr val="E7E0D2"/>
            </a:solidFill>
            <a:prstDash val="solid"/>
          </a:ln>
        </p:spPr>
      </p:sp>
      <p:sp>
        <p:nvSpPr>
          <p:cNvPr id="39" name="Text 36"/>
          <p:cNvSpPr/>
          <p:nvPr/>
        </p:nvSpPr>
        <p:spPr>
          <a:xfrm>
            <a:off x="6386066" y="4664422"/>
            <a:ext cx="121444" cy="121444"/>
          </a:xfrm>
          <a:prstGeom prst="rect">
            <a:avLst/>
          </a:prstGeom>
          <a:noFill/>
          <a:ln/>
        </p:spPr>
        <p:txBody>
          <a:bodyPr wrap="none" lIns="0" tIns="0" rIns="0" bIns="0" rtlCol="0" anchor="ctr"/>
          <a:lstStyle/>
          <a:p>
            <a:pPr algn="ctr" indent="0" marL="0">
              <a:buNone/>
            </a:pPr>
            <a:r>
              <a:rPr lang="en-US" sz="1195" dirty="0">
                <a:solidFill>
                  <a:srgbClr val="8F6E12"/>
                </a:solidFill>
                <a:latin typeface="Segoe UI Symbol" pitchFamily="34" charset="0"/>
                <a:ea typeface="Segoe UI Symbol" pitchFamily="34" charset="-122"/>
                <a:cs typeface="Segoe UI Symbol" pitchFamily="34" charset="-120"/>
              </a:rPr>
              <a:t>♥</a:t>
            </a:r>
            <a:endParaRPr lang="en-US" sz="1195" dirty="0"/>
          </a:p>
        </p:txBody>
      </p:sp>
      <p:sp>
        <p:nvSpPr>
          <p:cNvPr id="40" name="Text 37"/>
          <p:cNvSpPr/>
          <p:nvPr/>
        </p:nvSpPr>
        <p:spPr>
          <a:xfrm>
            <a:off x="6564660" y="4656832"/>
            <a:ext cx="2057846" cy="136624"/>
          </a:xfrm>
          <a:prstGeom prst="rect">
            <a:avLst/>
          </a:prstGeom>
          <a:noFill/>
          <a:ln/>
        </p:spPr>
        <p:txBody>
          <a:bodyPr wrap="square" lIns="0" tIns="0" rIns="0" bIns="0" rtlCol="0" anchor="t"/>
          <a:lstStyle/>
          <a:p>
            <a:pPr algn="l" indent="0" marL="0">
              <a:lnSpc>
                <a:spcPts val="1076"/>
              </a:lnSpc>
              <a:buNone/>
            </a:pPr>
            <a:r>
              <a:rPr lang="en-US" sz="717" i="1" dirty="0">
                <a:solidFill>
                  <a:srgbClr val="2E6650"/>
                </a:solidFill>
                <a:latin typeface="Carlito" pitchFamily="34" charset="0"/>
                <a:ea typeface="Carlito" pitchFamily="34" charset="-122"/>
                <a:cs typeface="Carlito" pitchFamily="34" charset="-120"/>
              </a:rPr>
              <a:t>Trust is the product behind the product.</a:t>
            </a:r>
            <a:endParaRPr lang="en-US" sz="71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029200" cy="5143500"/>
          </a:xfrm>
          <a:prstGeom prst="rect">
            <a:avLst/>
          </a:prstGeom>
        </p:spPr>
      </p:pic>
      <p:sp>
        <p:nvSpPr>
          <p:cNvPr id="3" name="Text 0"/>
          <p:cNvSpPr/>
          <p:nvPr/>
        </p:nvSpPr>
        <p:spPr>
          <a:xfrm>
            <a:off x="-1071562" y="3500438"/>
            <a:ext cx="2714625" cy="2714625"/>
          </a:xfrm>
          <a:prstGeom prst="ellipse">
            <a:avLst/>
          </a:prstGeom>
          <a:solidFill>
            <a:srgbClr val="E8B931">
              <a:alpha val="8000"/>
            </a:srgbClr>
          </a:solidFill>
          <a:ln/>
        </p:spPr>
        <p:txBody>
          <a:bodyPr wrap="square" rtlCol="0" anchor="ctr"/>
          <a:lstStyle/>
          <a:p>
            <a:pPr indent="0" marL="0">
              <a:buNone/>
            </a:pPr>
            <a:endParaRPr lang="en-US" dirty="0"/>
          </a:p>
        </p:txBody>
      </p:sp>
      <p:sp>
        <p:nvSpPr>
          <p:cNvPr id="4" name="Text 1"/>
          <p:cNvSpPr/>
          <p:nvPr/>
        </p:nvSpPr>
        <p:spPr>
          <a:xfrm>
            <a:off x="3925491" y="-675084"/>
            <a:ext cx="1635919" cy="1635919"/>
          </a:xfrm>
          <a:prstGeom prst="ellipse">
            <a:avLst/>
          </a:prstGeom>
          <a:noFill/>
          <a:ln w="7144">
            <a:solidFill>
              <a:srgbClr val="FBF9F4"/>
            </a:solidFill>
            <a:prstDash val="solid"/>
          </a:ln>
        </p:spPr>
        <p:txBody>
          <a:bodyPr wrap="square" rtlCol="0" anchor="ctr"/>
          <a:lstStyle/>
          <a:p>
            <a:pPr indent="0" marL="0">
              <a:buNone/>
            </a:pPr>
            <a:endParaRPr lang="en-US" dirty="0"/>
          </a:p>
        </p:txBody>
      </p:sp>
      <p:sp>
        <p:nvSpPr>
          <p:cNvPr id="5" name="Text 2"/>
          <p:cNvSpPr/>
          <p:nvPr/>
        </p:nvSpPr>
        <p:spPr>
          <a:xfrm>
            <a:off x="457200" y="414338"/>
            <a:ext cx="4214813" cy="794912"/>
          </a:xfrm>
          <a:prstGeom prst="rect">
            <a:avLst/>
          </a:prstGeom>
          <a:noFill/>
          <a:ln/>
        </p:spPr>
        <p:txBody>
          <a:bodyPr wrap="square" lIns="0" tIns="0" rIns="0" bIns="0" rtlCol="0" anchor="t"/>
          <a:lstStyle/>
          <a:p>
            <a:pPr algn="l" indent="0" marL="0">
              <a:lnSpc>
                <a:spcPts val="2898"/>
              </a:lnSpc>
              <a:buNone/>
            </a:pPr>
            <a:r>
              <a:rPr lang="en-US" sz="2588" b="1" spc="-45" kern="0" dirty="0">
                <a:solidFill>
                  <a:srgbClr val="FBF9F4"/>
                </a:solidFill>
                <a:latin typeface="Carlito" pitchFamily="34" charset="0"/>
                <a:ea typeface="Carlito" pitchFamily="34" charset="-122"/>
                <a:cs typeface="Carlito" pitchFamily="34" charset="-120"/>
              </a:rPr>
              <a:t>One More Guardian in Every Home</a:t>
            </a:r>
            <a:endParaRPr lang="en-US" sz="2588" dirty="0"/>
          </a:p>
        </p:txBody>
      </p:sp>
      <p:sp>
        <p:nvSpPr>
          <p:cNvPr id="6" name="Text 3"/>
          <p:cNvSpPr/>
          <p:nvPr/>
        </p:nvSpPr>
        <p:spPr>
          <a:xfrm>
            <a:off x="457200" y="1278954"/>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7" name="Text 4"/>
          <p:cNvSpPr/>
          <p:nvPr/>
        </p:nvSpPr>
        <p:spPr>
          <a:xfrm>
            <a:off x="457200" y="1516184"/>
            <a:ext cx="964295" cy="273849"/>
          </a:xfrm>
          <a:prstGeom prst="roundRect">
            <a:avLst>
              <a:gd name="adj" fmla="val 3474716"/>
            </a:avLst>
          </a:prstGeom>
          <a:solidFill>
            <a:srgbClr val="FBF9F4">
              <a:alpha val="12000"/>
            </a:srgbClr>
          </a:solidFill>
          <a:ln w="7144">
            <a:solidFill>
              <a:srgbClr val="FBF9F4"/>
            </a:solidFill>
            <a:prstDash val="solid"/>
          </a:ln>
        </p:spPr>
        <p:txBody>
          <a:bodyPr wrap="square" rtlCol="0" anchor="ctr"/>
          <a:lstStyle/>
          <a:p>
            <a:pPr indent="0" marL="0">
              <a:buNone/>
            </a:pPr>
            <a:endParaRPr lang="en-US" dirty="0"/>
          </a:p>
        </p:txBody>
      </p:sp>
      <p:sp>
        <p:nvSpPr>
          <p:cNvPr id="8" name="Text 5"/>
          <p:cNvSpPr/>
          <p:nvPr/>
        </p:nvSpPr>
        <p:spPr>
          <a:xfrm>
            <a:off x="457200" y="1528986"/>
            <a:ext cx="964295" cy="248245"/>
          </a:xfrm>
          <a:prstGeom prst="rect">
            <a:avLst/>
          </a:prstGeom>
          <a:noFill/>
          <a:ln/>
        </p:spPr>
        <p:txBody>
          <a:bodyPr wrap="none" lIns="0" tIns="0" rIns="0" bIns="0" rtlCol="0" anchor="ctr"/>
          <a:lstStyle/>
          <a:p>
            <a:pPr algn="ctr" indent="0" marL="0">
              <a:lnSpc>
                <a:spcPts val="1055"/>
              </a:lnSpc>
              <a:buNone/>
            </a:pPr>
            <a:r>
              <a:rPr lang="en-US" sz="800" dirty="0">
                <a:solidFill>
                  <a:srgbClr val="FBF9F4"/>
                </a:solidFill>
                <a:latin typeface="Carlito" pitchFamily="34" charset="0"/>
                <a:ea typeface="Carlito" pitchFamily="34" charset="-122"/>
                <a:cs typeface="Carlito" pitchFamily="34" charset="-120"/>
              </a:rPr>
              <a:t>Detect in seconds</a:t>
            </a:r>
            <a:endParaRPr lang="en-US" sz="800" dirty="0"/>
          </a:p>
        </p:txBody>
      </p:sp>
      <p:sp>
        <p:nvSpPr>
          <p:cNvPr id="9" name="Text 6"/>
          <p:cNvSpPr/>
          <p:nvPr/>
        </p:nvSpPr>
        <p:spPr>
          <a:xfrm>
            <a:off x="1478645" y="1588815"/>
            <a:ext cx="128588" cy="128588"/>
          </a:xfrm>
          <a:prstGeom prst="rect">
            <a:avLst/>
          </a:prstGeom>
          <a:noFill/>
          <a:ln/>
        </p:spPr>
        <p:txBody>
          <a:bodyPr wrap="none" lIns="0" tIns="0" rIns="0" bIns="0" rtlCol="0" anchor="ctr"/>
          <a:lstStyle/>
          <a:p>
            <a:pPr algn="ctr" indent="0" marL="0">
              <a:buNone/>
            </a:pPr>
            <a:r>
              <a:rPr lang="en-US" sz="1266" dirty="0">
                <a:solidFill>
                  <a:srgbClr val="E8B931"/>
                </a:solidFill>
                <a:latin typeface="Segoe UI Symbol" pitchFamily="34" charset="0"/>
                <a:ea typeface="Segoe UI Symbol" pitchFamily="34" charset="-122"/>
                <a:cs typeface="Segoe UI Symbol" pitchFamily="34" charset="-120"/>
              </a:rPr>
              <a:t>→</a:t>
            </a:r>
            <a:endParaRPr lang="en-US" sz="1266" dirty="0"/>
          </a:p>
        </p:txBody>
      </p:sp>
      <p:sp>
        <p:nvSpPr>
          <p:cNvPr id="10" name="Text 7"/>
          <p:cNvSpPr/>
          <p:nvPr/>
        </p:nvSpPr>
        <p:spPr>
          <a:xfrm>
            <a:off x="1664382" y="1516184"/>
            <a:ext cx="795524" cy="273849"/>
          </a:xfrm>
          <a:prstGeom prst="roundRect">
            <a:avLst>
              <a:gd name="adj" fmla="val 3474716"/>
            </a:avLst>
          </a:prstGeom>
          <a:solidFill>
            <a:srgbClr val="FBF9F4">
              <a:alpha val="12000"/>
            </a:srgbClr>
          </a:solidFill>
          <a:ln w="7144">
            <a:solidFill>
              <a:srgbClr val="FBF9F4"/>
            </a:solidFill>
            <a:prstDash val="solid"/>
          </a:ln>
        </p:spPr>
        <p:txBody>
          <a:bodyPr wrap="square" rtlCol="0" anchor="ctr"/>
          <a:lstStyle/>
          <a:p>
            <a:pPr indent="0" marL="0">
              <a:buNone/>
            </a:pPr>
            <a:endParaRPr lang="en-US" dirty="0"/>
          </a:p>
        </p:txBody>
      </p:sp>
      <p:sp>
        <p:nvSpPr>
          <p:cNvPr id="11" name="Text 8"/>
          <p:cNvSpPr/>
          <p:nvPr/>
        </p:nvSpPr>
        <p:spPr>
          <a:xfrm>
            <a:off x="1664382" y="1528986"/>
            <a:ext cx="795524" cy="248245"/>
          </a:xfrm>
          <a:prstGeom prst="rect">
            <a:avLst/>
          </a:prstGeom>
          <a:noFill/>
          <a:ln/>
        </p:spPr>
        <p:txBody>
          <a:bodyPr wrap="none" lIns="0" tIns="0" rIns="0" bIns="0" rtlCol="0" anchor="ctr"/>
          <a:lstStyle/>
          <a:p>
            <a:pPr algn="ctr" indent="0" marL="0">
              <a:lnSpc>
                <a:spcPts val="1055"/>
              </a:lnSpc>
              <a:buNone/>
            </a:pPr>
            <a:r>
              <a:rPr lang="en-US" sz="800" dirty="0">
                <a:solidFill>
                  <a:srgbClr val="FBF9F4"/>
                </a:solidFill>
                <a:latin typeface="Carlito" pitchFamily="34" charset="0"/>
                <a:ea typeface="Carlito" pitchFamily="34" charset="-122"/>
                <a:cs typeface="Carlito" pitchFamily="34" charset="-120"/>
              </a:rPr>
              <a:t>Alert instantly</a:t>
            </a:r>
            <a:endParaRPr lang="en-US" sz="800" dirty="0"/>
          </a:p>
        </p:txBody>
      </p:sp>
      <p:sp>
        <p:nvSpPr>
          <p:cNvPr id="12" name="Text 9"/>
          <p:cNvSpPr/>
          <p:nvPr/>
        </p:nvSpPr>
        <p:spPr>
          <a:xfrm>
            <a:off x="2517056" y="1588815"/>
            <a:ext cx="128588" cy="128588"/>
          </a:xfrm>
          <a:prstGeom prst="rect">
            <a:avLst/>
          </a:prstGeom>
          <a:noFill/>
          <a:ln/>
        </p:spPr>
        <p:txBody>
          <a:bodyPr wrap="none" lIns="0" tIns="0" rIns="0" bIns="0" rtlCol="0" anchor="ctr"/>
          <a:lstStyle/>
          <a:p>
            <a:pPr algn="ctr" indent="0" marL="0">
              <a:buNone/>
            </a:pPr>
            <a:r>
              <a:rPr lang="en-US" sz="1266" dirty="0">
                <a:solidFill>
                  <a:srgbClr val="E8B931"/>
                </a:solidFill>
                <a:latin typeface="Segoe UI Symbol" pitchFamily="34" charset="0"/>
                <a:ea typeface="Segoe UI Symbol" pitchFamily="34" charset="-122"/>
                <a:cs typeface="Segoe UI Symbol" pitchFamily="34" charset="-120"/>
              </a:rPr>
              <a:t>→</a:t>
            </a:r>
            <a:endParaRPr lang="en-US" sz="1266" dirty="0"/>
          </a:p>
        </p:txBody>
      </p:sp>
      <p:sp>
        <p:nvSpPr>
          <p:cNvPr id="13" name="Text 10"/>
          <p:cNvSpPr/>
          <p:nvPr/>
        </p:nvSpPr>
        <p:spPr>
          <a:xfrm>
            <a:off x="2702793" y="1516184"/>
            <a:ext cx="1033835" cy="273849"/>
          </a:xfrm>
          <a:prstGeom prst="roundRect">
            <a:avLst>
              <a:gd name="adj" fmla="val 3474716"/>
            </a:avLst>
          </a:prstGeom>
          <a:solidFill>
            <a:srgbClr val="FBF9F4">
              <a:alpha val="12000"/>
            </a:srgbClr>
          </a:solidFill>
          <a:ln w="7144">
            <a:solidFill>
              <a:srgbClr val="FBF9F4"/>
            </a:solidFill>
            <a:prstDash val="solid"/>
          </a:ln>
        </p:spPr>
        <p:txBody>
          <a:bodyPr wrap="square" rtlCol="0" anchor="ctr"/>
          <a:lstStyle/>
          <a:p>
            <a:pPr indent="0" marL="0">
              <a:buNone/>
            </a:pPr>
            <a:endParaRPr lang="en-US" dirty="0"/>
          </a:p>
        </p:txBody>
      </p:sp>
      <p:sp>
        <p:nvSpPr>
          <p:cNvPr id="14" name="Text 11"/>
          <p:cNvSpPr/>
          <p:nvPr/>
        </p:nvSpPr>
        <p:spPr>
          <a:xfrm>
            <a:off x="2702793" y="1528986"/>
            <a:ext cx="1033835" cy="248245"/>
          </a:xfrm>
          <a:prstGeom prst="rect">
            <a:avLst/>
          </a:prstGeom>
          <a:noFill/>
          <a:ln/>
        </p:spPr>
        <p:txBody>
          <a:bodyPr wrap="none" lIns="0" tIns="0" rIns="0" bIns="0" rtlCol="0" anchor="ctr"/>
          <a:lstStyle/>
          <a:p>
            <a:pPr algn="ctr" indent="0" marL="0">
              <a:lnSpc>
                <a:spcPts val="1055"/>
              </a:lnSpc>
              <a:buNone/>
            </a:pPr>
            <a:r>
              <a:rPr lang="en-US" sz="800" dirty="0">
                <a:solidFill>
                  <a:srgbClr val="FBF9F4"/>
                </a:solidFill>
                <a:latin typeface="Carlito" pitchFamily="34" charset="0"/>
                <a:ea typeface="Carlito" pitchFamily="34" charset="-122"/>
                <a:cs typeface="Carlito" pitchFamily="34" charset="-120"/>
              </a:rPr>
              <a:t>Resolve completely</a:t>
            </a:r>
            <a:endParaRPr lang="en-US" sz="800" dirty="0"/>
          </a:p>
        </p:txBody>
      </p:sp>
      <p:sp>
        <p:nvSpPr>
          <p:cNvPr id="15" name="Text 12"/>
          <p:cNvSpPr/>
          <p:nvPr/>
        </p:nvSpPr>
        <p:spPr>
          <a:xfrm>
            <a:off x="457200" y="1962969"/>
            <a:ext cx="3714750" cy="602513"/>
          </a:xfrm>
          <a:prstGeom prst="rect">
            <a:avLst/>
          </a:prstGeom>
          <a:noFill/>
          <a:ln/>
        </p:spPr>
        <p:txBody>
          <a:bodyPr wrap="square" lIns="0" tIns="0" rIns="0" bIns="0" rtlCol="0" anchor="t"/>
          <a:lstStyle/>
          <a:p>
            <a:pPr algn="l" indent="0" marL="0">
              <a:lnSpc>
                <a:spcPts val="1465"/>
              </a:lnSpc>
              <a:buNone/>
            </a:pPr>
            <a:r>
              <a:rPr lang="en-US" sz="872" dirty="0">
                <a:solidFill>
                  <a:srgbClr val="FBF9F4">
                    <a:alpha val="88000"/>
                  </a:srgbClr>
                </a:solidFill>
                <a:latin typeface="Carlito" pitchFamily="34" charset="0"/>
                <a:ea typeface="Carlito" pitchFamily="34" charset="-122"/>
                <a:cs typeface="Carlito" pitchFamily="34" charset="-120"/>
              </a:rPr>
              <a:t>GuardianLoop.Ai brings a missing layer of protection to UAE homes — watching balconies, windows and household hazards, and following every event through to verified resolution.</a:t>
            </a:r>
            <a:endParaRPr lang="en-US" sz="872" dirty="0"/>
          </a:p>
        </p:txBody>
      </p:sp>
      <p:sp>
        <p:nvSpPr>
          <p:cNvPr id="16" name="Shape 13"/>
          <p:cNvSpPr/>
          <p:nvPr/>
        </p:nvSpPr>
        <p:spPr>
          <a:xfrm>
            <a:off x="457200" y="3811191"/>
            <a:ext cx="4214813" cy="0"/>
          </a:xfrm>
          <a:prstGeom prst="line">
            <a:avLst/>
          </a:prstGeom>
          <a:noFill/>
          <a:ln w="7144">
            <a:solidFill>
              <a:srgbClr val="FBF9F4"/>
            </a:solidFill>
            <a:prstDash val="solid"/>
          </a:ln>
        </p:spPr>
      </p:sp>
      <p:sp>
        <p:nvSpPr>
          <p:cNvPr id="17" name="Text 14"/>
          <p:cNvSpPr/>
          <p:nvPr/>
        </p:nvSpPr>
        <p:spPr>
          <a:xfrm>
            <a:off x="457200" y="3986213"/>
            <a:ext cx="4214813" cy="324041"/>
          </a:xfrm>
          <a:prstGeom prst="rect">
            <a:avLst/>
          </a:prstGeom>
          <a:noFill/>
          <a:ln/>
        </p:spPr>
        <p:txBody>
          <a:bodyPr wrap="none" lIns="0" tIns="0" rIns="0" bIns="0" rtlCol="0" anchor="t"/>
          <a:lstStyle/>
          <a:p>
            <a:pPr algn="l" indent="0" marL="0">
              <a:lnSpc>
                <a:spcPts val="2363"/>
              </a:lnSpc>
              <a:buNone/>
            </a:pPr>
            <a:r>
              <a:rPr lang="en-US" sz="1575" b="1" dirty="0">
                <a:solidFill>
                  <a:srgbClr val="FBF9F4"/>
                </a:solidFill>
                <a:latin typeface="Carlito" pitchFamily="34" charset="0"/>
                <a:ea typeface="Carlito" pitchFamily="34" charset="-122"/>
                <a:cs typeface="Carlito" pitchFamily="34" charset="-120"/>
              </a:rPr>
              <a:t>Thank you — </a:t>
            </a:r>
            <a:pPr algn="l" indent="0" marL="0">
              <a:lnSpc>
                <a:spcPts val="2363"/>
              </a:lnSpc>
              <a:buNone/>
            </a:pPr>
            <a:r>
              <a:rPr lang="en-US" sz="1575" b="1" dirty="0">
                <a:solidFill>
                  <a:srgbClr val="E8B931"/>
                </a:solidFill>
                <a:latin typeface="Carlito" pitchFamily="34" charset="0"/>
                <a:ea typeface="Carlito" pitchFamily="34" charset="-122"/>
                <a:cs typeface="Carlito" pitchFamily="34" charset="-120"/>
              </a:rPr>
              <a:t>Ravi Kumar D</a:t>
            </a:r>
            <a:endParaRPr lang="en-US" sz="1575" dirty="0"/>
          </a:p>
        </p:txBody>
      </p:sp>
      <p:sp>
        <p:nvSpPr>
          <p:cNvPr id="18" name="Text 15"/>
          <p:cNvSpPr/>
          <p:nvPr/>
        </p:nvSpPr>
        <p:spPr>
          <a:xfrm>
            <a:off x="457200" y="4350544"/>
            <a:ext cx="4324541" cy="164592"/>
          </a:xfrm>
          <a:prstGeom prst="rect">
            <a:avLst/>
          </a:prstGeom>
          <a:noFill/>
          <a:ln/>
        </p:spPr>
        <p:txBody>
          <a:bodyPr wrap="square" lIns="0" tIns="0" rIns="0" bIns="0" rtlCol="0" anchor="t"/>
          <a:lstStyle/>
          <a:p>
            <a:pPr algn="l" indent="0" marL="0">
              <a:lnSpc>
                <a:spcPts val="1055"/>
              </a:lnSpc>
              <a:buNone/>
            </a:pPr>
            <a:r>
              <a:rPr lang="en-US" sz="800" spc="79" kern="0" dirty="0">
                <a:solidFill>
                  <a:srgbClr val="FBF9F4">
                    <a:alpha val="75000"/>
                  </a:srgbClr>
                </a:solidFill>
                <a:latin typeface="Carlito" pitchFamily="34" charset="0"/>
                <a:ea typeface="Carlito" pitchFamily="34" charset="-122"/>
                <a:cs typeface="Carlito" pitchFamily="34" charset="-120"/>
              </a:rPr>
              <a:t>UAE AI Agents Championship · October 2026</a:t>
            </a:r>
            <a:endParaRPr lang="en-US" sz="800" dirty="0"/>
          </a:p>
        </p:txBody>
      </p:sp>
      <p:sp>
        <p:nvSpPr>
          <p:cNvPr id="19" name="Text 16"/>
          <p:cNvSpPr/>
          <p:nvPr/>
        </p:nvSpPr>
        <p:spPr>
          <a:xfrm>
            <a:off x="457200" y="4627364"/>
            <a:ext cx="4214813" cy="187523"/>
          </a:xfrm>
          <a:prstGeom prst="rect">
            <a:avLst/>
          </a:prstGeom>
          <a:noFill/>
          <a:ln/>
        </p:spPr>
        <p:txBody>
          <a:bodyPr wrap="square" lIns="0" tIns="0" rIns="0" bIns="0" rtlCol="0" anchor="t"/>
          <a:lstStyle/>
          <a:p>
            <a:pPr algn="l" indent="0" marL="0">
              <a:lnSpc>
                <a:spcPts val="1477"/>
              </a:lnSpc>
              <a:buNone/>
            </a:pPr>
            <a:r>
              <a:rPr lang="en-US" sz="984" i="1" dirty="0">
                <a:solidFill>
                  <a:srgbClr val="E8B931"/>
                </a:solidFill>
                <a:latin typeface="Carlito" pitchFamily="34" charset="0"/>
                <a:ea typeface="Carlito" pitchFamily="34" charset="-122"/>
                <a:cs typeface="Carlito" pitchFamily="34" charset="-120"/>
              </a:rPr>
              <a:t>Because babies are our world. Let us keep it that way.</a:t>
            </a:r>
            <a:endParaRPr lang="en-US" sz="984" dirty="0"/>
          </a:p>
        </p:txBody>
      </p:sp>
      <p:pic>
        <p:nvPicPr>
          <p:cNvPr id="20" name="Image 1" descr="/tmp/h2p-fit-1792648433589-m298se.png">    </p:cNvPr>
          <p:cNvPicPr>
            <a:picLocks noChangeAspect="1"/>
          </p:cNvPicPr>
          <p:nvPr/>
        </p:nvPicPr>
        <p:blipFill>
          <a:blip r:embed="rId2"/>
          <a:stretch>
            <a:fillRect/>
          </a:stretch>
        </p:blipFill>
        <p:spPr>
          <a:xfrm>
            <a:off x="5029200" y="0"/>
            <a:ext cx="4114800" cy="5143500"/>
          </a:xfrm>
          <a:prstGeom prst="rect">
            <a:avLst/>
          </a:prstGeom>
        </p:spPr>
      </p:pic>
      <p:pic>
        <p:nvPicPr>
          <p:cNvPr id="21" name="Image 2" descr="preencoded.png">    </p:cNvPr>
          <p:cNvPicPr>
            <a:picLocks noChangeAspect="1"/>
          </p:cNvPicPr>
          <p:nvPr/>
        </p:nvPicPr>
        <p:blipFill>
          <a:blip r:embed="rId3"/>
          <a:stretch>
            <a:fillRect/>
          </a:stretch>
        </p:blipFill>
        <p:spPr>
          <a:xfrm>
            <a:off x="5029200" y="0"/>
            <a:ext cx="41148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2026-10-22T05:53:53Z</dcterms:created>
  <dcterms:modified xsi:type="dcterms:W3CDTF">2026-10-22T05:53:53Z</dcterms:modified>
</cp:coreProperties>
</file>